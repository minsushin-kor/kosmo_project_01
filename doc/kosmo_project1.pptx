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1" r:id="rId6"/>
    <p:sldId id="279" r:id="rId7"/>
    <p:sldId id="261" r:id="rId8"/>
    <p:sldId id="273" r:id="rId9"/>
    <p:sldId id="272" r:id="rId10"/>
    <p:sldId id="265" r:id="rId11"/>
    <p:sldId id="266" r:id="rId12"/>
    <p:sldId id="274" r:id="rId13"/>
    <p:sldId id="278" r:id="rId14"/>
    <p:sldId id="260" r:id="rId15"/>
    <p:sldId id="275" r:id="rId16"/>
    <p:sldId id="276" r:id="rId17"/>
    <p:sldId id="277" r:id="rId18"/>
    <p:sldId id="267" r:id="rId19"/>
    <p:sldId id="268" r:id="rId20"/>
    <p:sldId id="269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367"/>
    <a:srgbClr val="B7C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정확도(%)</c:v>
                </c:pt>
              </c:strCache>
            </c:strRef>
          </c:tx>
          <c:spPr>
            <a:solidFill>
              <a:srgbClr val="1024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 wrap="none" lIns="0" tIns="0" rIns="0" bIns="0" anchor="ctr" anchorCtr="1"/>
              <a:lstStyle/>
              <a:p>
                <a:pPr algn="l">
                  <a:defRPr sz="900" b="0" i="0" u="none">
                    <a:solidFill>
                      <a:srgbClr val="1B242E"/>
                    </a:solidFill>
                    <a:latin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Extra Trees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87.72</c:v>
                </c:pt>
                <c:pt idx="1">
                  <c:v>89.7</c:v>
                </c:pt>
                <c:pt idx="2">
                  <c:v>86.49</c:v>
                </c:pt>
                <c:pt idx="3">
                  <c:v>89.56</c:v>
                </c:pt>
                <c:pt idx="4">
                  <c:v>81.12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A6-4A54-A98C-E2948D08F3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재현율(%)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 wrap="none" lIns="0" tIns="0" rIns="0" bIns="0" anchor="ctr" anchorCtr="1"/>
              <a:lstStyle/>
              <a:p>
                <a:pPr algn="l">
                  <a:defRPr sz="900" b="0" i="0" u="none">
                    <a:solidFill>
                      <a:srgbClr val="1B242E"/>
                    </a:solidFill>
                    <a:latin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Extra Trees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94.3</c:v>
                </c:pt>
                <c:pt idx="1">
                  <c:v>89.79</c:v>
                </c:pt>
                <c:pt idx="2">
                  <c:v>90.89</c:v>
                </c:pt>
                <c:pt idx="3">
                  <c:v>90.89</c:v>
                </c:pt>
                <c:pt idx="4">
                  <c:v>93.96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A6-4A54-A98C-E2948D08F3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lstStyle/>
          <a:p>
            <a:pPr algn="l">
              <a:defRPr sz="1100" b="0" i="0" u="none">
                <a:solidFill>
                  <a:srgbClr val="1B242E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D7E6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lstStyle/>
          <a:p>
            <a:pPr algn="l">
              <a:defRPr sz="900" b="0" i="0" u="none">
                <a:solidFill>
                  <a:srgbClr val="5B6B79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 rot="0" vert="horz" wrap="none" lIns="0" tIns="0" rIns="0" bIns="0" anchor="ctr" anchorCtr="1"/>
        <a:lstStyle/>
        <a:p>
          <a:pPr algn="l">
            <a:defRPr sz="1100" b="0" i="0" u="none">
              <a:solidFill>
                <a:srgbClr val="5B6B79"/>
              </a:solidFill>
            </a:defRPr>
          </a:pPr>
          <a:endParaRPr lang="ko-KR"/>
        </a:p>
      </c:txPr>
    </c:legend>
    <c:plotVisOnly val="0"/>
    <c:dispBlanksAs val="gap"/>
    <c:showDLblsOverMax val="1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BE75-3B14-89F9-0473-D46EA0AD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78B67-5611-6ABE-FE70-F7AB1A6585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38B43-6EAF-C09F-FD12-A68010367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DF84B-7439-DB11-DD9B-17CC8028B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732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E33D-0E27-CADA-2CE6-B250A4B1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BD8BE-5ABC-3ACC-22F2-7C774D4EC4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45CB-5B66-E253-65D9-0865A7933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A569D-4EAB-4BDB-C429-3A82608A6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49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16FDB-8DEB-3CB8-C837-72BAD9FE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94E54-F3C6-293C-7EB1-6F04E9318F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380EA-B450-DD41-0C1F-62B9463C0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EFFAB-21E1-D599-93F6-8454A17EC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48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CE56-F9DC-8C4F-C92C-6D2A5409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9D2E8-5EB7-F2C1-BE24-09C61DAB42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3FB11-B58E-84E1-BE59-5652B8282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93F84-869D-35E3-0331-2D39DD041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70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3099-4B7E-B0ED-5A71-7094FC865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D26B7-C930-3D89-8262-24DEB49FE7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E70B6-7128-7A11-9536-62949830D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1E927-C6B3-5137-07AF-25BFAF462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56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31E8D-CF3F-9962-317A-02F67169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6368C-B6DE-231C-A49A-15FF933F88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9E7A1-A353-4ADF-417D-5EDF8390A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8BE21-08B9-9455-E164-5EAA88E9C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55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70D6-7514-5000-840C-26E3D5DF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85914-C7F2-C0C4-2AD9-4E9654E5F0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4C20E-E422-4200-2720-9F4BC4308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52D77-E4A3-6F8C-DAB6-CEFFCE2664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36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6FD6D-DFB1-B86A-6BB7-7DD23033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F5141-441B-B0A3-989A-27E7FFE251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26F91-11D6-B5BE-0BE5-10CDEEB41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8490-037A-A172-50A8-F7FE46F6C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35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D264-348C-CF2B-4F61-6B22EF1B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689CA-8B17-8EF9-3CA0-BAB113DBEF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78197-904E-E1F9-4C69-72F3A5C3F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dirty="0">
              <a:ea typeface="맑은 고딕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C0B5-5A31-3494-6339-DF8BE0ED1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80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TEAM PROJECT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AI 기반 중고차</a:t>
            </a:r>
            <a:endParaRPr lang="en-US" sz="5000">
              <a:latin typeface="맑은 고딕"/>
              <a:ea typeface="맑은 고딕"/>
            </a:endParaRPr>
          </a:p>
          <a:p>
            <a:pPr marL="0" indent="0">
              <a:lnSpc>
                <a:spcPts val="56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거래 플랫폼</a:t>
            </a:r>
            <a:endParaRPr lang="en-US" sz="5000">
              <a:latin typeface="맑은 고딕"/>
              <a:ea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경매 · 거래 · 이탈 예측 · 차량 추천 통합 서비스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AF2F8"/>
                </a:solidFill>
                <a:latin typeface="맑은 고딕"/>
                <a:ea typeface="맑은 고딕"/>
                <a:cs typeface="Calibri" pitchFamily="34" charset="-120"/>
              </a:rPr>
              <a:t>Spring Boot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52344" y="461772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2344" y="461772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AF2F8"/>
                </a:solidFill>
                <a:latin typeface="맑은 고딕"/>
                <a:ea typeface="맑은 고딕"/>
                <a:cs typeface="Calibri" pitchFamily="34" charset="-120"/>
              </a:rPr>
              <a:t>FastAPI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06240" y="461772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 w="12700">
            <a:solidFill>
              <a:srgbClr val="2E52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46177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AF2F8"/>
                </a:solidFill>
                <a:latin typeface="맑은 고딕"/>
                <a:ea typeface="맑은 고딕"/>
                <a:cs typeface="Calibri" pitchFamily="34" charset="-120"/>
              </a:rPr>
              <a:t>React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>
                <a:solidFill>
                  <a:srgbClr val="6E8AA6"/>
                </a:solidFill>
                <a:latin typeface="맑은 고딕"/>
                <a:ea typeface="맑은 고딕"/>
                <a:cs typeface="Calibri"/>
              </a:rPr>
              <a:t>박준하, 신민수, 정재혁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CONTENTS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목차</a:t>
            </a:r>
            <a:endParaRPr lang="en-US" sz="3200">
              <a:latin typeface="맑은 고딕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2A93B"/>
                </a:solidFill>
                <a:latin typeface="맑은 고딕"/>
                <a:ea typeface="맑은 고딕"/>
                <a:cs typeface="Cambria" pitchFamily="34" charset="-120"/>
              </a:rPr>
              <a:t>01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20240" y="1737360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프로젝트 개요</a:t>
            </a:r>
            <a:endParaRPr lang="en-US" sz="1900">
              <a:latin typeface="맑은 고딕"/>
              <a:ea typeface="맑은 고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737360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9"/>
                </a:solidFill>
                <a:latin typeface="맑은 고딕"/>
                <a:ea typeface="맑은 고딕"/>
                <a:cs typeface="Calibri" pitchFamily="34" charset="-120"/>
              </a:rPr>
              <a:t>목표와 시스템 아키텍처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10789920" cy="0"/>
          </a:xfrm>
          <a:prstGeom prst="line">
            <a:avLst/>
          </a:prstGeom>
          <a:noFill/>
          <a:ln w="12700">
            <a:solidFill>
              <a:srgbClr val="D7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33472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2A93B"/>
                </a:solidFill>
                <a:latin typeface="맑은 고딕"/>
                <a:ea typeface="맑은 고딕"/>
              </a:rPr>
              <a:t>02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2633472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10243E"/>
                </a:solidFill>
                <a:latin typeface="Malgun Gothic"/>
                <a:ea typeface="Malgun Gothic"/>
              </a:rPr>
              <a:t>AI </a:t>
            </a:r>
            <a:r>
              <a:rPr lang="ko-KR" sz="1900" b="1">
                <a:solidFill>
                  <a:srgbClr val="10243E"/>
                </a:solidFill>
                <a:latin typeface="Malgun Gothic"/>
                <a:ea typeface="Malgun Gothic"/>
              </a:rPr>
              <a:t>모델</a:t>
            </a:r>
            <a:r>
              <a:rPr lang="en-US" sz="1900" b="1">
                <a:solidFill>
                  <a:srgbClr val="10243E"/>
                </a:solidFill>
                <a:latin typeface="Malgun Gothic"/>
                <a:ea typeface="Malgun Gothic"/>
              </a:rPr>
              <a:t> </a:t>
            </a:r>
            <a:r>
              <a:rPr lang="ko-KR" sz="1900" b="1">
                <a:solidFill>
                  <a:srgbClr val="10243E"/>
                </a:solidFill>
                <a:latin typeface="Malgun Gothic"/>
                <a:ea typeface="Malgun Gothic"/>
              </a:rPr>
              <a:t>개발</a:t>
            </a:r>
            <a:endParaRPr lang="ko-KR" sz="1900">
              <a:solidFill>
                <a:srgbClr val="000000"/>
              </a:solidFill>
              <a:latin typeface="Malgun Gothic"/>
              <a:ea typeface="Malgun Gothic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2633472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데이터셋</a:t>
            </a:r>
            <a:r>
              <a:rPr 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, </a:t>
            </a:r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모델</a:t>
            </a:r>
            <a:r>
              <a:rPr 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비교와</a:t>
            </a:r>
            <a:r>
              <a:rPr 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 </a:t>
            </a:r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선정</a:t>
            </a:r>
            <a:endParaRPr lang="en-US" sz="1300">
              <a:solidFill>
                <a:srgbClr val="5B6B79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789920" cy="0"/>
          </a:xfrm>
          <a:prstGeom prst="line">
            <a:avLst/>
          </a:prstGeom>
          <a:noFill/>
          <a:ln w="12700">
            <a:solidFill>
              <a:srgbClr val="D7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9584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2A93B"/>
                </a:solidFill>
                <a:latin typeface="맑은 고딕"/>
                <a:ea typeface="맑은 고딕"/>
                <a:cs typeface="Cambria" pitchFamily="34" charset="-120"/>
              </a:rPr>
              <a:t>03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3529584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00" b="1">
                <a:solidFill>
                  <a:srgbClr val="10243E"/>
                </a:solidFill>
                <a:latin typeface="Malgun Gothic"/>
                <a:ea typeface="Malgun Gothic"/>
                <a:cs typeface="Cambria" pitchFamily="34" charset="-120"/>
              </a:rPr>
              <a:t>모델</a:t>
            </a:r>
            <a:r>
              <a:rPr lang="en-US" sz="1900" b="1">
                <a:solidFill>
                  <a:srgbClr val="10243E"/>
                </a:solidFill>
                <a:latin typeface="Malgun Gothic"/>
                <a:ea typeface="Malgun Gothic"/>
                <a:cs typeface="Cambria" pitchFamily="34" charset="-120"/>
              </a:rPr>
              <a:t> </a:t>
            </a:r>
            <a:r>
              <a:rPr lang="ko-KR" sz="1900" b="1">
                <a:solidFill>
                  <a:srgbClr val="10243E"/>
                </a:solidFill>
                <a:latin typeface="Malgun Gothic"/>
                <a:ea typeface="Malgun Gothic"/>
                <a:cs typeface="Cambria" pitchFamily="34" charset="-120"/>
              </a:rPr>
              <a:t>검증 </a:t>
            </a:r>
            <a:endParaRPr lang="ko-KR"/>
          </a:p>
        </p:txBody>
      </p:sp>
      <p:sp>
        <p:nvSpPr>
          <p:cNvPr id="14" name="Text 12"/>
          <p:cNvSpPr/>
          <p:nvPr/>
        </p:nvSpPr>
        <p:spPr>
          <a:xfrm>
            <a:off x="6126480" y="3529584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err="1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더미</a:t>
            </a:r>
            <a:r>
              <a:rPr lang="en-US" altLang="ko-KR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300" err="1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데이터</a:t>
            </a:r>
            <a:r>
              <a:rPr lang="en-US" altLang="ko-KR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300" err="1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기반</a:t>
            </a:r>
            <a:r>
              <a:rPr lang="en-US" altLang="ko-KR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300" err="1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흐름</a:t>
            </a:r>
            <a:r>
              <a:rPr lang="en-US" altLang="ko-KR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300" err="1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검증</a:t>
            </a:r>
            <a:r>
              <a:rPr lang="en-US" altLang="ko-KR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 </a:t>
            </a:r>
            <a:endParaRPr lang="ko-KR" altLang="en-US"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425696"/>
            <a:ext cx="10789920" cy="0"/>
          </a:xfrm>
          <a:prstGeom prst="line">
            <a:avLst/>
          </a:prstGeom>
          <a:noFill/>
          <a:ln w="12700">
            <a:solidFill>
              <a:srgbClr val="D7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25696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2A93B"/>
                </a:solidFill>
                <a:latin typeface="맑은 고딕"/>
                <a:ea typeface="맑은 고딕"/>
                <a:cs typeface="Cambria" pitchFamily="34" charset="-120"/>
              </a:rPr>
              <a:t>04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920240" y="4425696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10243E"/>
                </a:solidFill>
                <a:latin typeface="Malgun Gothic"/>
                <a:ea typeface="Malgun Gothic"/>
              </a:rPr>
              <a:t>Backend &amp; AI </a:t>
            </a:r>
            <a:r>
              <a:rPr lang="ko-KR" sz="1900" b="1">
                <a:solidFill>
                  <a:srgbClr val="10243E"/>
                </a:solidFill>
                <a:latin typeface="Malgun Gothic"/>
                <a:ea typeface="Malgun Gothic"/>
              </a:rPr>
              <a:t>연동 </a:t>
            </a:r>
            <a:endParaRPr lang="en-US" sz="19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4425696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Spring Boot</a:t>
            </a:r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와</a:t>
            </a:r>
            <a:r>
              <a:rPr 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en-US" sz="1300" err="1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FastAPI</a:t>
            </a:r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의</a:t>
            </a:r>
            <a:r>
              <a:rPr 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ko-KR" altLang="en-US" sz="1300">
                <a:solidFill>
                  <a:srgbClr val="5B6B79"/>
                </a:solidFill>
                <a:latin typeface="Malgun Gothic"/>
                <a:ea typeface="Malgun Gothic"/>
                <a:cs typeface="Calibri"/>
              </a:rPr>
              <a:t>역할</a:t>
            </a:r>
            <a:endParaRPr lang="en-US" sz="1300">
              <a:solidFill>
                <a:srgbClr val="000000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321808"/>
            <a:ext cx="10789920" cy="0"/>
          </a:xfrm>
          <a:prstGeom prst="line">
            <a:avLst/>
          </a:prstGeom>
          <a:noFill/>
          <a:ln w="12700">
            <a:solidFill>
              <a:srgbClr val="D7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21808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2A93B"/>
                </a:solidFill>
                <a:latin typeface="맑은 고딕"/>
                <a:ea typeface="맑은 고딕"/>
                <a:cs typeface="Cambria" pitchFamily="34" charset="-120"/>
              </a:rPr>
              <a:t>05</a:t>
            </a:r>
            <a:endParaRPr lang="en-US" sz="2600">
              <a:latin typeface="맑은 고딕"/>
              <a:ea typeface="맑은 고딕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920240" y="5321808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Frontend &amp; 서비스 흐름</a:t>
            </a:r>
            <a:endParaRPr lang="en-US" sz="1900"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5321808"/>
            <a:ext cx="5303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B6B79"/>
                </a:solidFill>
                <a:latin typeface="맑은 고딕"/>
                <a:ea typeface="맑은 고딕"/>
                <a:cs typeface="Calibri" pitchFamily="34" charset="-120"/>
              </a:rPr>
              <a:t>화면 구성과 마무리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PROJECT GOAL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프로젝트 목표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거래 기능과 AI 분석을 하나의 서비스로 연결합니다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일반 회원 · 딜러 · 회사 · 관리자가 중고차 등록, 경매, 거래와 관리를 수행하는 웹 플랫폼입니다. AI 분석을 더해 이탈 위험과 차량 가치, 구매 조건별 추천 정보를 제공합니다.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핵심 서비스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차량 등록 · 조회 · 경매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4498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회원 · 딜러 · 회사 관리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5065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채팅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알림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거래</a:t>
            </a:r>
            <a:endParaRPr lang="en-US" sz="1450" err="1">
              <a:latin typeface="맑은 고딕"/>
              <a:ea typeface="맑은 고딕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306324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1024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AI 활용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•  딜러 · 회사 이탈 확률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44988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차량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예상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상태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점수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 및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예상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altLang="ko-KR" sz="1450" err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가격</a:t>
            </a:r>
            <a:endParaRPr lang="ko-KR" altLang="en-US" sz="1450" err="1">
              <a:solidFill>
                <a:srgbClr val="D7E6F2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50657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•  구매 조건 기반 추천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ARCHITECTURE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시스템 아키텍처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23160"/>
            <a:ext cx="411480" cy="41148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1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React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사용자·딜러·회사·관리자 화면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권한별 라우팅과 API 요청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44952" y="36576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64408" y="21488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0243E"/>
          </a:solidFill>
          <a:ln/>
        </p:spPr>
      </p:sp>
      <p:sp>
        <p:nvSpPr>
          <p:cNvPr id="13" name="Shape 11"/>
          <p:cNvSpPr/>
          <p:nvPr/>
        </p:nvSpPr>
        <p:spPr>
          <a:xfrm>
            <a:off x="3493008" y="2423160"/>
            <a:ext cx="411480" cy="41148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2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93008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Spring Boot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3008" y="3931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비즈니스 로직과 JWT 인증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93008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JPA 기반 데이터 접근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60720" y="36576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0176" y="21488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EAF2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08776" y="2423160"/>
            <a:ext cx="411480" cy="41148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1" name="Text 19"/>
          <p:cNvSpPr/>
          <p:nvPr/>
        </p:nvSpPr>
        <p:spPr>
          <a:xfrm>
            <a:off x="6208776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3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08776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FastAPI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08776" y="3931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학습 모델 로드와 예측 API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08776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위험 등급 · 추천 결과 가공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76488" y="36576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95944" y="214884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024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924544" y="2423160"/>
            <a:ext cx="411480" cy="41148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8" name="Text 26"/>
          <p:cNvSpPr/>
          <p:nvPr/>
        </p:nvSpPr>
        <p:spPr>
          <a:xfrm>
            <a:off x="8924544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4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24544" y="301752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Supabase</a:t>
            </a:r>
            <a:endParaRPr lang="en-US" sz="1700">
              <a:latin typeface="맑은 고딕"/>
              <a:ea typeface="맑은 고딕"/>
            </a:endParaRPr>
          </a:p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PostgreSQL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924544" y="3931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회원 · 차량 · 거래 데이터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924544" y="4617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이탈 예측 결과 저장</a:t>
            </a:r>
            <a:endParaRPr lang="en-US" sz="1150">
              <a:latin typeface="맑은 고딕"/>
              <a:ea typeface="맑은 고딕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2D56C-60EE-03AA-EAE7-E9A15918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7690CB-6287-CD0A-2E98-63878406D9C5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DATASET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EC5F10-FDD2-A51A-4ACE-7972D7EF3081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데이터셋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선정</a:t>
            </a:r>
            <a:endParaRPr lang="ko-KR" altLang="en-US" sz="3000" b="1">
              <a:solidFill>
                <a:srgbClr val="10243E"/>
              </a:solidFill>
              <a:latin typeface="맑은 고딕"/>
              <a:ea typeface="맑은 고딕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6641D9-2560-2AE7-1AE9-0EB3D90DB505}"/>
              </a:ext>
            </a:extLst>
          </p:cNvPr>
          <p:cNvSpPr/>
          <p:nvPr/>
        </p:nvSpPr>
        <p:spPr>
          <a:xfrm>
            <a:off x="695195" y="5982639"/>
            <a:ext cx="105139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kern="0" spc="100">
                <a:solidFill>
                  <a:srgbClr val="305367"/>
                </a:solidFill>
                <a:latin typeface="Malgun Gothic"/>
                <a:ea typeface="Malgun Gothic"/>
                <a:cs typeface="+mn-lt"/>
              </a:rPr>
              <a:t>원본</a:t>
            </a:r>
            <a:r>
              <a:rPr lang="en-US" sz="1400" b="1" kern="0" spc="100">
                <a:solidFill>
                  <a:srgbClr val="305367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400" b="1" kern="0" spc="100" err="1">
                <a:solidFill>
                  <a:srgbClr val="305367"/>
                </a:solidFill>
                <a:latin typeface="Malgun Gothic"/>
                <a:ea typeface="Malgun Gothic"/>
                <a:cs typeface="+mn-lt"/>
              </a:rPr>
              <a:t>데이터</a:t>
            </a:r>
            <a:r>
              <a:rPr lang="en-US" sz="1400" b="1" kern="0" spc="100">
                <a:solidFill>
                  <a:srgbClr val="305367"/>
                </a:solidFill>
                <a:latin typeface="Malgun Gothic"/>
                <a:ea typeface="Malgun Gothic"/>
                <a:cs typeface="Calibri"/>
              </a:rPr>
              <a:t> </a:t>
            </a:r>
            <a:r>
              <a:rPr lang="en-US" altLang="ko-KR" sz="1400" b="1" kern="0" spc="100">
                <a:solidFill>
                  <a:srgbClr val="305367"/>
                </a:solidFill>
                <a:latin typeface="Malgun Gothic"/>
                <a:ea typeface="Malgun Gothic"/>
                <a:cs typeface="Calibri"/>
              </a:rPr>
              <a:t>- </a:t>
            </a:r>
            <a:r>
              <a:rPr lang="en-US" sz="1400" b="1">
                <a:solidFill>
                  <a:srgbClr val="305367"/>
                </a:solidFill>
                <a:latin typeface="Malgun Gothic"/>
                <a:ea typeface="Malgun Gothic"/>
              </a:rPr>
              <a:t>Vehicle Sales Data</a:t>
            </a:r>
            <a:endParaRPr lang="en-US" altLang="ko-KR" sz="1400" b="1" kern="0" spc="100">
              <a:solidFill>
                <a:srgbClr val="305367"/>
              </a:solidFill>
              <a:latin typeface="Malgun Gothic"/>
              <a:ea typeface="Malgun Gothic"/>
              <a:cs typeface="Calibri"/>
            </a:endParaRPr>
          </a:p>
          <a:p>
            <a:r>
              <a:rPr lang="en-US" altLang="ko-KR" sz="1100" b="1" kern="0" spc="100" err="1">
                <a:solidFill>
                  <a:srgbClr val="2E5266"/>
                </a:solidFill>
                <a:latin typeface="Malgun Gothic"/>
                <a:ea typeface="Malgun Gothic"/>
                <a:cs typeface="Calibri"/>
              </a:rPr>
              <a:t>출처</a:t>
            </a:r>
            <a:r>
              <a:rPr lang="en-US" altLang="ko-KR" sz="1100" b="1" kern="0" spc="100">
                <a:solidFill>
                  <a:srgbClr val="2E5266"/>
                </a:solidFill>
                <a:latin typeface="Malgun Gothic"/>
                <a:ea typeface="Malgun Gothic"/>
                <a:cs typeface="Calibri"/>
              </a:rPr>
              <a:t>(</a:t>
            </a:r>
            <a:r>
              <a:rPr lang="en-US" sz="1100" kern="0" spc="100">
                <a:solidFill>
                  <a:srgbClr val="2E5266"/>
                </a:solidFill>
                <a:ea typeface="+mn-lt"/>
                <a:cs typeface="+mn-lt"/>
              </a:rPr>
              <a:t>https://www.kaggle.com/datasets/syedanwarafridi/vehicle-sales-data</a:t>
            </a:r>
            <a:r>
              <a:rPr lang="en-US" altLang="ko-KR" sz="1100" b="1" kern="0" spc="100">
                <a:solidFill>
                  <a:srgbClr val="2E5266"/>
                </a:solidFill>
                <a:latin typeface="Malgun Gothic"/>
                <a:ea typeface="Malgun Gothic"/>
                <a:cs typeface="Calibri"/>
              </a:rPr>
              <a:t>)</a:t>
            </a:r>
            <a:endParaRPr lang="en-US" altLang="ko-KR" sz="1400" b="1" kern="0" spc="100">
              <a:solidFill>
                <a:srgbClr val="305367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B1AB96F-5691-DBC9-BEBC-597117B6F93B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5F1F26-F2D8-8F85-016B-FEE995C22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33" y="1290532"/>
            <a:ext cx="10344411" cy="442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7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D2DF3-CF53-A019-AD69-C711CBCA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59FC7E-5832-38C0-0353-37F99586A502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DATASET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5C9D16-6D53-7DF8-65D0-63FD8CC0D6C0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데이터셋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가공</a:t>
            </a:r>
            <a:endParaRPr lang="ko-KR" altLang="en-US" sz="3000" b="1">
              <a:solidFill>
                <a:srgbClr val="10243E"/>
              </a:solidFill>
              <a:latin typeface="맑은 고딕"/>
              <a:ea typeface="맑은 고딕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A3BC86-F038-9FC7-48E8-D9F9C194ED30}"/>
              </a:ext>
            </a:extLst>
          </p:cNvPr>
          <p:cNvSpPr/>
          <p:nvPr/>
        </p:nvSpPr>
        <p:spPr>
          <a:xfrm>
            <a:off x="548640" y="210312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EAF2F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7D0C55-4BF4-1E4E-4F77-7C09E7F6F69B}"/>
              </a:ext>
            </a:extLst>
          </p:cNvPr>
          <p:cNvSpPr/>
          <p:nvPr/>
        </p:nvSpPr>
        <p:spPr>
          <a:xfrm>
            <a:off x="91440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원본</a:t>
            </a:r>
            <a:r>
              <a:rPr 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00" b="1" kern="0" spc="100" err="1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데이터</a:t>
            </a:r>
            <a:endParaRPr lang="ko-KR" altLang="en-US" sz="1400" b="1" kern="0" spc="100" err="1">
              <a:solidFill>
                <a:srgbClr val="2E5266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2C9F46-14BE-BB69-9280-A7C4CE82C4CF}"/>
              </a:ext>
            </a:extLst>
          </p:cNvPr>
          <p:cNvSpPr/>
          <p:nvPr/>
        </p:nvSpPr>
        <p:spPr>
          <a:xfrm>
            <a:off x="91440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>
                <a:solidFill>
                  <a:srgbClr val="10243E"/>
                </a:solidFill>
                <a:latin typeface="맑은 고딕"/>
                <a:ea typeface="맑은 고딕"/>
                <a:cs typeface="Calibri"/>
              </a:rPr>
              <a:t>558,799</a:t>
            </a:r>
            <a:r>
              <a:rPr lang="en-US" sz="16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건</a:t>
            </a:r>
            <a:endParaRPr lang="en-US" sz="4400">
              <a:latin typeface="맑은 고딕"/>
              <a:ea typeface="맑은 고딕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80562BD-64D3-EFE0-D60C-A4C00C1471BE}"/>
              </a:ext>
            </a:extLst>
          </p:cNvPr>
          <p:cNvSpPr/>
          <p:nvPr/>
        </p:nvSpPr>
        <p:spPr>
          <a:xfrm>
            <a:off x="6126480" y="210312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EAF2F8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BB76D4-3FF1-2DB6-8716-CAB6885E425B}"/>
              </a:ext>
            </a:extLst>
          </p:cNvPr>
          <p:cNvSpPr/>
          <p:nvPr/>
        </p:nvSpPr>
        <p:spPr>
          <a:xfrm>
            <a:off x="918754" y="3765731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결측값</a:t>
            </a:r>
            <a:r>
              <a:rPr 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비정상값</a:t>
            </a:r>
            <a:r>
              <a:rPr lang="en-US" altLang="ko-KR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제거</a:t>
            </a:r>
            <a:r>
              <a:rPr lang="en-US" altLang="ko-KR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 b="1" kern="0" spc="1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후</a:t>
            </a:r>
            <a:endParaRPr lang="ko-KR" altLang="en-US" sz="1400" b="1" kern="0" spc="100">
              <a:solidFill>
                <a:srgbClr val="2E5266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21190D7-0287-F8F0-4769-4E7EDE112D7E}"/>
              </a:ext>
            </a:extLst>
          </p:cNvPr>
          <p:cNvSpPr/>
          <p:nvPr/>
        </p:nvSpPr>
        <p:spPr>
          <a:xfrm>
            <a:off x="911497" y="4177211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10243E"/>
                </a:solidFill>
                <a:latin typeface="맑은 고딕"/>
                <a:ea typeface="맑은 고딕"/>
                <a:cs typeface="Calibri"/>
              </a:rPr>
              <a:t>546,976</a:t>
            </a:r>
            <a:r>
              <a:rPr lang="en-US" sz="16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건</a:t>
            </a:r>
            <a:endParaRPr lang="en-US" sz="4400">
              <a:latin typeface="맑은 고딕"/>
              <a:ea typeface="맑은 고딕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5C8ACF-27F6-3C37-055C-64590AA643C9}"/>
              </a:ext>
            </a:extLst>
          </p:cNvPr>
          <p:cNvSpPr/>
          <p:nvPr/>
        </p:nvSpPr>
        <p:spPr>
          <a:xfrm>
            <a:off x="6492240" y="2420257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주요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사용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항목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: 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year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, 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make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, 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model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, 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odometer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, 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condition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, 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mmr</a:t>
            </a:r>
            <a:endParaRPr lang="ko-KR" altLang="en-US">
              <a:latin typeface="맑은 고딕"/>
              <a:ea typeface="맑은 고딕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961157F-B35A-6A25-0948-07B1B879F9FC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6BA120D8-9060-BB4D-4653-0E0210F9A7C8}"/>
              </a:ext>
            </a:extLst>
          </p:cNvPr>
          <p:cNvSpPr/>
          <p:nvPr/>
        </p:nvSpPr>
        <p:spPr>
          <a:xfrm>
            <a:off x="6492239" y="31024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Condition(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상태점수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)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은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1~5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점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범위로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제한</a:t>
            </a:r>
            <a:endParaRPr lang="ko-KR">
              <a:latin typeface="맑은 고딕"/>
              <a:ea typeface="맑은 고딕"/>
              <a:cs typeface="Calibri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7FE6A255-A8C5-1F36-1B52-A139CE14813D}"/>
              </a:ext>
            </a:extLst>
          </p:cNvPr>
          <p:cNvSpPr/>
          <p:nvPr/>
        </p:nvSpPr>
        <p:spPr>
          <a:xfrm>
            <a:off x="6521268" y="375557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MMR(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가격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)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은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0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원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초과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데이터만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사용</a:t>
            </a:r>
            <a:endParaRPr lang="en-US" altLang="ko-KR">
              <a:latin typeface="맑은 고딕"/>
              <a:ea typeface="맑은 고딕"/>
              <a:cs typeface="+mn-lt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5A256025-A449-8EC3-96EA-698EF1EF369D}"/>
              </a:ext>
            </a:extLst>
          </p:cNvPr>
          <p:cNvSpPr/>
          <p:nvPr/>
        </p:nvSpPr>
        <p:spPr>
          <a:xfrm>
            <a:off x="6521267" y="4437741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제조사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모델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결측값은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Unknown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으로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통일</a:t>
            </a:r>
            <a:endParaRPr lang="ko-KR">
              <a:latin typeface="맑은 고딕"/>
              <a:ea typeface="맑은 고딕"/>
              <a:cs typeface="Calibri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83AA4A8E-D6DF-B435-8E8F-883544C8F456}"/>
              </a:ext>
            </a:extLst>
          </p:cNvPr>
          <p:cNvSpPr/>
          <p:nvPr/>
        </p:nvSpPr>
        <p:spPr>
          <a:xfrm>
            <a:off x="6492238" y="49965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데이터의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80%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는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학습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, 20%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는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최종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확인에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사용</a:t>
            </a:r>
            <a:endParaRPr lang="ko-KR">
              <a:latin typeface="맑은 고딕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03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AI SERVICE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FastAPI AI 기능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1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이탈 예측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RandomForest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딜러 · 회사별 확률, 등급, 사유 반환</a:t>
            </a:r>
            <a:endParaRPr lang="en-US" sz="125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33672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0243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992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2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07992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err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차량</a:t>
            </a:r>
            <a:r>
              <a:rPr 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상태 ·</a:t>
            </a:r>
            <a:r>
              <a:rPr 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가격</a:t>
            </a:r>
            <a:r>
              <a:rPr lang="en-US" altLang="ko-KR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예측</a:t>
            </a:r>
            <a:endParaRPr lang="en-US" sz="18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07992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CatBoost 회귀 모델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46634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Condition과 MMR 일괄 계산</a:t>
            </a:r>
            <a:endParaRPr lang="en-US" sz="1250">
              <a:latin typeface="맑은 고딕"/>
              <a:ea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18704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3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93024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구매자 추천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93024" y="3797348"/>
            <a:ext cx="3009756" cy="44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조건</a:t>
            </a:r>
            <a:r>
              <a:rPr lang="en-US" altLang="ko-KR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기반</a:t>
            </a:r>
            <a:r>
              <a:rPr lang="en-US" altLang="ko-KR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가중</a:t>
            </a:r>
            <a:r>
              <a:rPr lang="en-US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300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적합도</a:t>
            </a:r>
            <a:endParaRPr lang="ko-KR" altLang="en-US" sz="1300"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93024" y="4965364"/>
            <a:ext cx="2880360" cy="61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적합도</a:t>
            </a:r>
            <a:r>
              <a:rPr lang="en-US" altLang="ko-KR" sz="13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3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상위</a:t>
            </a: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3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최대</a:t>
            </a: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10대 </a:t>
            </a:r>
            <a:r>
              <a:rPr lang="en-US" sz="13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추천</a:t>
            </a:r>
            <a:endParaRPr lang="ko-KR" altLang="en-US" sz="130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  <p:sp>
        <p:nvSpPr>
          <p:cNvPr id="4" name="Text 19">
            <a:extLst>
              <a:ext uri="{FF2B5EF4-FFF2-40B4-BE49-F238E27FC236}">
                <a16:creationId xmlns:a16="http://schemas.microsoft.com/office/drawing/2014/main" id="{C57215DE-503E-8BDC-32B6-32F8654BDA20}"/>
              </a:ext>
            </a:extLst>
          </p:cNvPr>
          <p:cNvSpPr/>
          <p:nvPr/>
        </p:nvSpPr>
        <p:spPr>
          <a:xfrm>
            <a:off x="8193023" y="4243045"/>
            <a:ext cx="3182284" cy="42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300">
                <a:latin typeface="맑은 고딕"/>
                <a:ea typeface="맑은 고딕"/>
                <a:cs typeface="+mn-lt"/>
              </a:rPr>
              <a:t>AI 예상 상태·시세와 회원</a:t>
            </a:r>
            <a:r>
              <a:rPr lang="ko-KR" altLang="en-US" sz="1300">
                <a:latin typeface="맑은 고딕"/>
                <a:ea typeface="맑은 고딕"/>
                <a:cs typeface="+mn-lt"/>
              </a:rPr>
              <a:t> </a:t>
            </a:r>
            <a:r>
              <a:rPr lang="ko-KR" sz="1300">
                <a:latin typeface="맑은 고딕"/>
                <a:ea typeface="맑은 고딕"/>
                <a:cs typeface="+mn-lt"/>
              </a:rPr>
              <a:t>선호</a:t>
            </a:r>
            <a:r>
              <a:rPr lang="ko-KR" altLang="en-US" sz="1300">
                <a:latin typeface="맑은 고딕"/>
                <a:ea typeface="맑은 고딕"/>
                <a:cs typeface="+mn-lt"/>
              </a:rPr>
              <a:t> </a:t>
            </a:r>
            <a:r>
              <a:rPr lang="ko-KR" sz="1300">
                <a:latin typeface="맑은 고딕"/>
                <a:ea typeface="맑은 고딕"/>
                <a:cs typeface="+mn-lt"/>
              </a:rPr>
              <a:t>조건</a:t>
            </a:r>
            <a:r>
              <a:rPr lang="ko-KR" altLang="en-US" sz="1300">
                <a:latin typeface="맑은 고딕"/>
                <a:ea typeface="맑은 고딕"/>
                <a:cs typeface="+mn-lt"/>
              </a:rPr>
              <a:t> </a:t>
            </a:r>
            <a:r>
              <a:rPr lang="ko-KR" sz="1300">
                <a:latin typeface="맑은 고딕"/>
                <a:ea typeface="맑은 고딕"/>
                <a:cs typeface="+mn-lt"/>
              </a:rPr>
              <a:t>결합</a:t>
            </a:r>
            <a:endParaRPr lang="ko-KR" sz="1300">
              <a:latin typeface="맑은 고딕"/>
              <a:ea typeface="맑은 고딕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DE35026-671C-D4E9-1F24-D56331810BC1}"/>
              </a:ext>
            </a:extLst>
          </p:cNvPr>
          <p:cNvSpPr/>
          <p:nvPr/>
        </p:nvSpPr>
        <p:spPr>
          <a:xfrm>
            <a:off x="8193024" y="4659989"/>
            <a:ext cx="3009756" cy="44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300">
                <a:latin typeface="맑은 고딕"/>
                <a:ea typeface="맑은 고딕"/>
                <a:cs typeface="+mn-lt"/>
              </a:rPr>
              <a:t>기본 조건 80점 · 선택 조건</a:t>
            </a:r>
            <a:r>
              <a:rPr lang="ko-KR" altLang="en-US" sz="1300">
                <a:latin typeface="맑은 고딕"/>
                <a:ea typeface="맑은 고딕"/>
                <a:cs typeface="+mn-lt"/>
              </a:rPr>
              <a:t> </a:t>
            </a:r>
            <a:r>
              <a:rPr lang="ko-KR" sz="1300">
                <a:latin typeface="맑은 고딕"/>
                <a:ea typeface="맑은 고딕"/>
                <a:cs typeface="+mn-lt"/>
              </a:rPr>
              <a:t>20점</a:t>
            </a:r>
            <a:endParaRPr lang="ko-KR" sz="13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3D086-2A0D-39C6-BC55-D4EA37AF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3F6B82-560D-8972-1F90-8D524F065A14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MODEL COMPARISON</a:t>
            </a:r>
            <a:endParaRPr lang="en-US" sz="1300" kern="0" spc="100">
              <a:solidFill>
                <a:srgbClr val="000000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A71808-1B6C-3D52-88C6-C5D060608C35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</a:rPr>
              <a:t>모델 선정 과정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91FA12-B4AB-9373-F40D-8D212947E6F9}"/>
              </a:ext>
            </a:extLst>
          </p:cNvPr>
          <p:cNvSpPr/>
          <p:nvPr/>
        </p:nvSpPr>
        <p:spPr>
          <a:xfrm>
            <a:off x="548640" y="2110377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EAF2F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441612-52ED-F977-3E98-1629CC1FECF2}"/>
              </a:ext>
            </a:extLst>
          </p:cNvPr>
          <p:cNvSpPr/>
          <p:nvPr/>
        </p:nvSpPr>
        <p:spPr>
          <a:xfrm>
            <a:off x="914400" y="2430417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RandomForest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6313D41-4FF4-086F-D9B1-9809F9D9BCFE}"/>
              </a:ext>
            </a:extLst>
          </p:cNvPr>
          <p:cNvSpPr/>
          <p:nvPr/>
        </p:nvSpPr>
        <p:spPr>
          <a:xfrm>
            <a:off x="918754" y="3479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활동일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거래량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이용률의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비선형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관계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학습</a:t>
            </a:r>
            <a:endParaRPr lang="en-US" altLang="ko-KR" sz="1400" err="1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2F1E2B-AAB0-6678-D790-8974B37F90C8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15BCF93C-5D1F-E265-CB4B-97FCA0D513E4}"/>
              </a:ext>
            </a:extLst>
          </p:cNvPr>
          <p:cNvSpPr/>
          <p:nvPr/>
        </p:nvSpPr>
        <p:spPr>
          <a:xfrm>
            <a:off x="911496" y="2877455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이탈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여부는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0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또는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1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을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예측하는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분류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문제이므로 회귀가 아닌 분류 모델을 적용</a:t>
            </a:r>
            <a:endParaRPr lang="ko-KR" altLang="en-US" sz="1400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AA203EFE-F47E-A8C7-703A-9F85CCA8F540}"/>
              </a:ext>
            </a:extLst>
          </p:cNvPr>
          <p:cNvSpPr/>
          <p:nvPr/>
        </p:nvSpPr>
        <p:spPr>
          <a:xfrm>
            <a:off x="918753" y="4024085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불균형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데이터에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class_weight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=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balanced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적용하여 </a:t>
            </a:r>
            <a:r>
              <a:rPr lang="ko-KR" altLang="en-US" sz="1400">
                <a:solidFill>
                  <a:srgbClr val="1B242E"/>
                </a:solidFill>
                <a:latin typeface="Calibri"/>
                <a:ea typeface="맑은 고딕"/>
                <a:cs typeface="+mn-lt"/>
              </a:rPr>
              <a:t>이탈</a:t>
            </a:r>
            <a:r>
              <a:rPr lang="ko-KR" sz="1400">
                <a:solidFill>
                  <a:srgbClr val="1B242E"/>
                </a:solidFill>
                <a:ea typeface="+mn-lt"/>
                <a:cs typeface="+mn-lt"/>
              </a:rPr>
              <a:t> 데이터 불균형 보정</a:t>
            </a:r>
            <a:endParaRPr lang="en-US" altLang="ko-KR" sz="1400" err="1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8AACDB5-6CBC-1B49-02B2-E558EE069702}"/>
              </a:ext>
            </a:extLst>
          </p:cNvPr>
          <p:cNvSpPr/>
          <p:nvPr/>
        </p:nvSpPr>
        <p:spPr>
          <a:xfrm>
            <a:off x="6158410" y="2103119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EAF2F8"/>
          </a:solidFill>
          <a:ln/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C3FB570-0EA4-D3E2-DB1A-2FB4A37D5D93}"/>
              </a:ext>
            </a:extLst>
          </p:cNvPr>
          <p:cNvSpPr/>
          <p:nvPr/>
        </p:nvSpPr>
        <p:spPr>
          <a:xfrm>
            <a:off x="6524170" y="2423159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100" err="1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CatBoost</a:t>
            </a:r>
            <a:endParaRPr lang="ko-KR" err="1">
              <a:latin typeface="맑은 고딕"/>
              <a:ea typeface="맑은 고딕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34661434-E666-1D6F-B62C-78B1BE17CDA3}"/>
              </a:ext>
            </a:extLst>
          </p:cNvPr>
          <p:cNvSpPr/>
          <p:nvPr/>
        </p:nvSpPr>
        <p:spPr>
          <a:xfrm>
            <a:off x="6528524" y="4024085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 </a:t>
            </a:r>
            <a:r>
              <a:rPr lang="en-US" sz="1400">
                <a:solidFill>
                  <a:srgbClr val="1B242E"/>
                </a:solidFill>
                <a:latin typeface="Consolas"/>
                <a:ea typeface="맑은 고딕"/>
                <a:cs typeface="+mn-lt"/>
              </a:rPr>
              <a:t>원-</a:t>
            </a:r>
            <a:r>
              <a:rPr lang="ko-KR" altLang="en-US" sz="1400">
                <a:solidFill>
                  <a:srgbClr val="1B242E"/>
                </a:solidFill>
                <a:latin typeface="Consolas"/>
                <a:ea typeface="맑은 고딕"/>
                <a:cs typeface="+mn-lt"/>
              </a:rPr>
              <a:t>핫</a:t>
            </a:r>
            <a:r>
              <a:rPr lang="en-US" sz="1400">
                <a:solidFill>
                  <a:srgbClr val="1B242E"/>
                </a:solidFill>
                <a:latin typeface="Consolas"/>
                <a:ea typeface="맑은 고딕"/>
                <a:cs typeface="+mn-lt"/>
              </a:rPr>
              <a:t> </a:t>
            </a:r>
            <a:r>
              <a:rPr lang="en-US" sz="1400" err="1">
                <a:solidFill>
                  <a:srgbClr val="1B242E"/>
                </a:solidFill>
                <a:latin typeface="Consolas"/>
                <a:ea typeface="맑은 고딕"/>
                <a:cs typeface="+mn-lt"/>
              </a:rPr>
              <a:t>인코딩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 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없이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수치형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범주형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관계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학습</a:t>
            </a:r>
            <a:endParaRPr lang="en-US" sz="1400" err="1">
              <a:solidFill>
                <a:srgbClr val="1B242E"/>
              </a:solidFill>
              <a:latin typeface="맑은 고딕"/>
              <a:ea typeface="맑은 고딕"/>
              <a:cs typeface="+mn-lt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564F34D8-7D96-9866-6FCC-4271C29E9791}"/>
              </a:ext>
            </a:extLst>
          </p:cNvPr>
          <p:cNvSpPr/>
          <p:nvPr/>
        </p:nvSpPr>
        <p:spPr>
          <a:xfrm>
            <a:off x="6521266" y="2877455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Condition·MMR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은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연속값을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예측하는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회귀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문제</a:t>
            </a:r>
            <a:endParaRPr lang="en-US" altLang="ko-KR" sz="1400" err="1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58BA2147-173C-360B-4DAB-313D582E58C0}"/>
              </a:ext>
            </a:extLst>
          </p:cNvPr>
          <p:cNvSpPr/>
          <p:nvPr/>
        </p:nvSpPr>
        <p:spPr>
          <a:xfrm>
            <a:off x="6528524" y="342899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제조사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모델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같은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범주형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변수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처리에</a:t>
            </a:r>
            <a:r>
              <a:rPr 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유리</a:t>
            </a:r>
            <a:endParaRPr lang="en-US" sz="1400" err="1">
              <a:solidFill>
                <a:srgbClr val="1B242E"/>
              </a:solidFill>
              <a:latin typeface="맑은 고딕"/>
              <a:ea typeface="맑은 고딕"/>
              <a:cs typeface="+mn-lt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2F9AD938-CAC8-EF00-1708-A56A98B1D379}"/>
              </a:ext>
            </a:extLst>
          </p:cNvPr>
          <p:cNvSpPr/>
          <p:nvPr/>
        </p:nvSpPr>
        <p:spPr>
          <a:xfrm>
            <a:off x="6528523" y="456837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•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연식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차종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주행거리의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비선형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0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관계</a:t>
            </a:r>
            <a:r>
              <a:rPr lang="en-US" altLang="ko-KR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표현</a:t>
            </a:r>
            <a:endParaRPr lang="en-US" altLang="ko-KR" sz="1400" err="1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5A8E677-2C01-EC54-693C-EB02BB0D3A69}"/>
              </a:ext>
            </a:extLst>
          </p:cNvPr>
          <p:cNvSpPr/>
          <p:nvPr/>
        </p:nvSpPr>
        <p:spPr>
          <a:xfrm>
            <a:off x="548640" y="1299029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이탈 분류에는 </a:t>
            </a:r>
            <a:r>
              <a:rPr lang="en-US" altLang="ko-KR" sz="1400" err="1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RandomForest</a:t>
            </a:r>
            <a:r>
              <a:rPr lang="en-US" altLang="ko-KR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,</a:t>
            </a:r>
            <a:r>
              <a:rPr lang="ko-KR" altLang="en-US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ko-KR" altLang="en-US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 상태</a:t>
            </a:r>
            <a:r>
              <a:rPr lang="en-US" altLang="ko-KR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·</a:t>
            </a:r>
            <a:r>
              <a:rPr lang="ko-KR" altLang="en-US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가격 예측에는 </a:t>
            </a:r>
            <a:r>
              <a:rPr lang="en-US" altLang="ko-KR" sz="1400" err="1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CatBoost</a:t>
            </a:r>
            <a:r>
              <a:rPr lang="ko-KR" altLang="en-US" sz="1400">
                <a:solidFill>
                  <a:srgbClr val="305367"/>
                </a:solidFill>
                <a:latin typeface="맑은 고딕"/>
                <a:ea typeface="맑은 고딕"/>
                <a:cs typeface="+mn-lt"/>
              </a:rPr>
              <a:t>를 선정</a:t>
            </a:r>
            <a:endParaRPr lang="en-US" altLang="ko-KR" sz="1400">
              <a:solidFill>
                <a:srgbClr val="305367"/>
              </a:solidFill>
              <a:latin typeface="맑은 고딕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533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D43C6-F2A2-EAE8-3B83-C29368DD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2761C7-6A54-8AE7-9BFA-643C5375B55B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MODEL COMPARISON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2423D8-5CD5-B4A3-76B8-A8A6ED12261F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회원</a:t>
            </a:r>
            <a:r>
              <a:rPr lang="en-US" altLang="ko-KR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이탈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예측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모델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비교</a:t>
            </a:r>
            <a:endParaRPr lang="en-US" sz="3000" err="1">
              <a:latin typeface="맑은 고딕"/>
              <a:ea typeface="맑은 고딕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6C8D64-3998-811D-9036-2E2F67F22735}"/>
              </a:ext>
            </a:extLst>
          </p:cNvPr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같은</a:t>
            </a:r>
            <a:r>
              <a:rPr lang="en-US" sz="14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조건에서</a:t>
            </a:r>
            <a:r>
              <a:rPr lang="en-US" sz="14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5개 </a:t>
            </a:r>
            <a:r>
              <a:rPr lang="en-US" sz="1400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모델을</a:t>
            </a:r>
            <a:r>
              <a:rPr lang="en-US" sz="14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400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비교</a:t>
            </a:r>
            <a:endParaRPr lang="en-US" sz="1400">
              <a:solidFill>
                <a:srgbClr val="2E5266"/>
              </a:solidFill>
              <a:latin typeface="맑은 고딕"/>
              <a:ea typeface="맑은 고딕"/>
              <a:cs typeface="Calibri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4AD7479E-100F-9EA7-E795-E8061F0E7932}"/>
              </a:ext>
            </a:extLst>
          </p:cNvPr>
          <p:cNvGraphicFramePr/>
          <p:nvPr/>
        </p:nvGraphicFramePr>
        <p:xfrm>
          <a:off x="548640" y="1965960"/>
          <a:ext cx="7040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C4491CFA-EE50-B046-D909-0D9804CB53FE}"/>
              </a:ext>
            </a:extLst>
          </p:cNvPr>
          <p:cNvSpPr/>
          <p:nvPr/>
        </p:nvSpPr>
        <p:spPr>
          <a:xfrm>
            <a:off x="7818120" y="196596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10243E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3D6E006-1AAD-6178-8275-C61276BED463}"/>
              </a:ext>
            </a:extLst>
          </p:cNvPr>
          <p:cNvSpPr/>
          <p:nvPr/>
        </p:nvSpPr>
        <p:spPr>
          <a:xfrm>
            <a:off x="81381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err="1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RandomForest</a:t>
            </a:r>
            <a:r>
              <a:rPr lang="en-US" altLang="ko-KR" sz="1600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선정</a:t>
            </a:r>
            <a:r>
              <a:rPr lang="en-US" altLang="ko-KR" sz="1600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600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근거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CA2ED7-860C-3471-3973-01FA9C437C33}"/>
              </a:ext>
            </a:extLst>
          </p:cNvPr>
          <p:cNvSpPr/>
          <p:nvPr/>
        </p:nvSpPr>
        <p:spPr>
          <a:xfrm>
            <a:off x="81381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</a:t>
            </a:r>
            <a:r>
              <a:rPr lang="en-US" altLang="ko-KR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딜러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재현율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89.47%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7E7B3AE-AC0D-8761-7E87-7EDC5CBE05BC}"/>
              </a:ext>
            </a:extLst>
          </p:cNvPr>
          <p:cNvSpPr/>
          <p:nvPr/>
        </p:nvSpPr>
        <p:spPr>
          <a:xfrm>
            <a:off x="81381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ko-KR" altLang="en-US" sz="120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회사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재현율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92.31%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1A966BD-0462-B934-A01E-FABBF5004FDC}"/>
              </a:ext>
            </a:extLst>
          </p:cNvPr>
          <p:cNvSpPr/>
          <p:nvPr/>
        </p:nvSpPr>
        <p:spPr>
          <a:xfrm>
            <a:off x="81381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200" err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class_weight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=balanced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로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불균형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보정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DC75543-FE0E-2E56-E6CE-C19FDE740223}"/>
              </a:ext>
            </a:extLst>
          </p:cNvPr>
          <p:cNvSpPr/>
          <p:nvPr/>
        </p:nvSpPr>
        <p:spPr>
          <a:xfrm>
            <a:off x="813816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200" err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predict_proba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로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이탈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위험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점수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산출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24D44F7-2557-2C91-084C-E577B14DEF23}"/>
              </a:ext>
            </a:extLst>
          </p:cNvPr>
          <p:cNvSpPr/>
          <p:nvPr/>
        </p:nvSpPr>
        <p:spPr>
          <a:xfrm>
            <a:off x="813816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여러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트리를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결합해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단일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트리보다</a:t>
            </a:r>
            <a:r>
              <a:rPr 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2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안정적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835CCF6-BC2E-07EF-C8B1-EB9E44EE7528}"/>
              </a:ext>
            </a:extLst>
          </p:cNvPr>
          <p:cNvSpPr/>
          <p:nvPr/>
        </p:nvSpPr>
        <p:spPr>
          <a:xfrm>
            <a:off x="813816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altLang="ko-KR" sz="1200">
              <a:solidFill>
                <a:srgbClr val="D7E6F2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019EBB8-EC1D-0145-1F9F-3DD2319A3B34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5664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100">
                <a:solidFill>
                  <a:srgbClr val="2E5266"/>
                </a:solidFill>
                <a:latin typeface="Consolas"/>
                <a:ea typeface="맑은 고딕"/>
                <a:cs typeface="Calibri"/>
              </a:rPr>
              <a:t>DUMMY DATA</a:t>
            </a:r>
            <a:endParaRPr lang="ko-KR" altLang="en-US" b="1">
              <a:ea typeface="맑은 고딕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더미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데이터</a:t>
            </a: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생성</a:t>
            </a:r>
            <a:endParaRPr lang="ko-KR" altLang="en-US" sz="3000" b="1">
              <a:solidFill>
                <a:srgbClr val="10243E"/>
              </a:solidFill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1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기본 데이터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회사 20 · 딜러 100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4531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회원 10 · 차량 40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5020056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경매 10건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59352" y="3657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33672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07992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2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중복 · 연결 확인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07992" y="38862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회사 · 회원 login_id 고유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07992" y="44531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딜러 email 고유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07992" y="5020056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DB 참조 ID 연결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44384" y="3657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18704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193024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3" name="Text 21"/>
          <p:cNvSpPr/>
          <p:nvPr/>
        </p:nvSpPr>
        <p:spPr>
          <a:xfrm>
            <a:off x="8193024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3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93024" y="3200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DB 입력 파일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93024" y="38862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CSV · JSON · PostgreSQL SQL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93024" y="445312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이탈 조회 데이터도 함께 생성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VALIDATION RESULT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288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3000" b="1">
                <a:solidFill>
                  <a:srgbClr val="10243E"/>
                </a:solidFill>
                <a:latin typeface="Consolas"/>
                <a:ea typeface="맑은 고딕"/>
              </a:rPr>
              <a:t>이탈 </a:t>
            </a:r>
            <a:r>
              <a:rPr lang="ko-KR" altLang="en-US" sz="3000" b="1">
                <a:solidFill>
                  <a:srgbClr val="10243E"/>
                </a:solidFill>
                <a:latin typeface="Consolas"/>
                <a:ea typeface="맑은 고딕"/>
              </a:rPr>
              <a:t>모델 성능 및 </a:t>
            </a:r>
            <a:r>
              <a:rPr lang="ko-KR" sz="3000" b="1">
                <a:solidFill>
                  <a:srgbClr val="10243E"/>
                </a:solidFill>
                <a:latin typeface="Consolas"/>
                <a:ea typeface="맑은 고딕"/>
              </a:rPr>
              <a:t>더미 데이터 </a:t>
            </a:r>
            <a:r>
              <a:rPr lang="ko-KR" altLang="en-US" sz="3000" b="1">
                <a:solidFill>
                  <a:srgbClr val="10243E"/>
                </a:solidFill>
                <a:latin typeface="Consolas"/>
                <a:ea typeface="맑은 고딕"/>
              </a:rPr>
              <a:t>예측</a:t>
            </a:r>
            <a:r>
              <a:rPr lang="ko-KR" sz="3000" b="1">
                <a:solidFill>
                  <a:srgbClr val="10243E"/>
                </a:solidFill>
                <a:latin typeface="Consolas"/>
                <a:ea typeface="맑은 고딕"/>
              </a:rPr>
              <a:t> 결과</a:t>
            </a:r>
            <a:endParaRPr lang="ko-KR" b="1">
              <a:latin typeface="Consolas"/>
              <a:ea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딜러 모델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정확도 79.80%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41788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재현율 89.47%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483717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ROC-AUC 91.25%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33672" y="26060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회사 모델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53712" y="35204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정확도 93.18%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53712" y="41788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재현율 92.31%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53712" y="483717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ROC-AUC 99.18%</a:t>
            </a:r>
            <a:endParaRPr lang="en-US" sz="1500">
              <a:latin typeface="맑은 고딕"/>
              <a:ea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18704" y="26060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024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err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더미</a:t>
            </a: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1800" b="1" err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예측</a:t>
            </a:r>
            <a:r>
              <a:rPr 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ko-KR" altLang="en-US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범위</a:t>
            </a:r>
            <a:endParaRPr lang="ko-KR" altLang="en-US" sz="18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38744" y="35204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err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딜러</a:t>
            </a:r>
            <a:r>
              <a:rPr lang="en-US" sz="1500" b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 : 0.01% ~ 91.78%</a:t>
            </a:r>
            <a:endParaRPr lang="en-US" sz="1500">
              <a:latin typeface="맑은 고딕"/>
              <a:ea typeface="맑은 고딕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38744" y="417880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err="1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회사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 : 0.00% ~ 98.46%</a:t>
            </a:r>
            <a:endParaRPr lang="en-US" sz="1500">
              <a:latin typeface="맑은 고딕"/>
              <a:ea typeface="맑은 고딕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7ED60-5C01-2CD4-178C-6FB78C63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1D8B49-129F-7786-A94E-5799BFCECE4F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VALIDATION RESULT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3BED53-77A8-E304-24EC-9846D52A70CE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3000" b="1">
                <a:solidFill>
                  <a:srgbClr val="10243E"/>
                </a:solidFill>
                <a:latin typeface="맑은 고딕"/>
                <a:ea typeface="맑은 고딕"/>
              </a:rPr>
              <a:t>차량 데이터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</a:rPr>
              <a:t> </a:t>
            </a:r>
            <a:r>
              <a:rPr lang="ko-KR" sz="3000" b="1">
                <a:solidFill>
                  <a:srgbClr val="10243E"/>
                </a:solidFill>
                <a:latin typeface="맑은 고딕"/>
                <a:ea typeface="맑은 고딕"/>
              </a:rPr>
              <a:t>분석과 CatBoost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</a:rPr>
              <a:t> </a:t>
            </a:r>
            <a:r>
              <a:rPr lang="ko-KR" sz="3000" b="1">
                <a:solidFill>
                  <a:srgbClr val="10243E"/>
                </a:solidFill>
                <a:latin typeface="맑은 고딕"/>
                <a:ea typeface="맑은 고딕"/>
              </a:rPr>
              <a:t>예측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</a:rPr>
              <a:t> </a:t>
            </a:r>
            <a:r>
              <a:rPr lang="ko-KR" sz="3000" b="1">
                <a:solidFill>
                  <a:srgbClr val="10243E"/>
                </a:solidFill>
                <a:latin typeface="맑은 고딕"/>
                <a:ea typeface="맑은 고딕"/>
              </a:rPr>
              <a:t>결과</a:t>
            </a:r>
            <a:endParaRPr lang="ko-KR" b="1">
              <a:latin typeface="맑은 고딕"/>
              <a:ea typeface="맑은 고딕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124177-71A1-57CA-12DD-682F7406A947}"/>
              </a:ext>
            </a:extLst>
          </p:cNvPr>
          <p:cNvSpPr/>
          <p:nvPr/>
        </p:nvSpPr>
        <p:spPr>
          <a:xfrm>
            <a:off x="548640" y="2381068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D94E21-F6C5-CA7C-D69B-DA5D77C3ACDA}"/>
              </a:ext>
            </a:extLst>
          </p:cNvPr>
          <p:cNvSpPr/>
          <p:nvPr/>
        </p:nvSpPr>
        <p:spPr>
          <a:xfrm>
            <a:off x="868680" y="26553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차량 상태 예측</a:t>
            </a:r>
            <a:r>
              <a:rPr lang="en-US" altLang="ko-KR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 </a:t>
            </a:r>
            <a:r>
              <a:rPr lang="en-US" sz="18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모델</a:t>
            </a:r>
            <a:endParaRPr lang="en-US" sz="1800" err="1">
              <a:latin typeface="맑은 고딕"/>
              <a:ea typeface="맑은 고딕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1F6D60-3532-12D0-02FA-2643F217AAC9}"/>
              </a:ext>
            </a:extLst>
          </p:cNvPr>
          <p:cNvSpPr/>
          <p:nvPr/>
        </p:nvSpPr>
        <p:spPr>
          <a:xfrm>
            <a:off x="868680" y="32954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MAE :</a:t>
            </a:r>
            <a:r>
              <a:rPr lang="en-US" altLang="ko-KR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0.563</a:t>
            </a:r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점</a:t>
            </a:r>
            <a:endParaRPr lang="ko-KR" altLang="en-US">
              <a:latin typeface="맑은 고딕"/>
              <a:ea typeface="맑은 고딕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A97746-1DFC-A520-8E02-716FA745C6A4}"/>
              </a:ext>
            </a:extLst>
          </p:cNvPr>
          <p:cNvSpPr/>
          <p:nvPr/>
        </p:nvSpPr>
        <p:spPr>
          <a:xfrm>
            <a:off x="868680" y="39538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R² : 0.3825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0DDB1F6-06E3-D880-8351-A1A1D3C7A71F}"/>
              </a:ext>
            </a:extLst>
          </p:cNvPr>
          <p:cNvSpPr/>
          <p:nvPr/>
        </p:nvSpPr>
        <p:spPr>
          <a:xfrm>
            <a:off x="868680" y="461220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±0.5</a:t>
            </a:r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점</a:t>
            </a:r>
            <a:r>
              <a:rPr lang="en-US" altLang="ko-KR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이내</a:t>
            </a: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52.66%</a:t>
            </a:r>
            <a:endParaRPr lang="ko-KR" altLang="en-US">
              <a:latin typeface="맑은 고딕"/>
              <a:ea typeface="맑은 고딕"/>
              <a:cs typeface="+mn-lt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D04EDCB-B74C-FBDA-4CBE-CAF7F2F2B526}"/>
              </a:ext>
            </a:extLst>
          </p:cNvPr>
          <p:cNvSpPr/>
          <p:nvPr/>
        </p:nvSpPr>
        <p:spPr>
          <a:xfrm>
            <a:off x="4233672" y="2381068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D7EFB18-6D75-90A6-8CA4-35B724DBB91B}"/>
              </a:ext>
            </a:extLst>
          </p:cNvPr>
          <p:cNvSpPr/>
          <p:nvPr/>
        </p:nvSpPr>
        <p:spPr>
          <a:xfrm>
            <a:off x="4553712" y="26553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예상 가격 예측</a:t>
            </a:r>
            <a:r>
              <a:rPr lang="en-US" sz="18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18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모델</a:t>
            </a:r>
            <a:endParaRPr lang="en-US" sz="1800" err="1">
              <a:latin typeface="맑은 고딕"/>
              <a:ea typeface="맑은 고딕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26B359-7E0F-171E-9C6D-B3CD6B61D274}"/>
              </a:ext>
            </a:extLst>
          </p:cNvPr>
          <p:cNvSpPr/>
          <p:nvPr/>
        </p:nvSpPr>
        <p:spPr>
          <a:xfrm>
            <a:off x="4553712" y="32954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MAE :</a:t>
            </a:r>
            <a:r>
              <a:rPr lang="en-US" altLang="ko-KR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약</a:t>
            </a: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181</a:t>
            </a:r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만원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A38307-0F80-F8F8-0398-1C871644BFD2}"/>
              </a:ext>
            </a:extLst>
          </p:cNvPr>
          <p:cNvSpPr/>
          <p:nvPr/>
        </p:nvSpPr>
        <p:spPr>
          <a:xfrm>
            <a:off x="4553712" y="39538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R² : 0.8949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D81EB51-520C-9EE9-F91B-BE85197E1765}"/>
              </a:ext>
            </a:extLst>
          </p:cNvPr>
          <p:cNvSpPr/>
          <p:nvPr/>
        </p:nvSpPr>
        <p:spPr>
          <a:xfrm>
            <a:off x="4553712" y="461220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±20%</a:t>
            </a:r>
            <a:r>
              <a:rPr lang="en-US" altLang="ko-KR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이내</a:t>
            </a:r>
            <a:r>
              <a:rPr lang="en-US" sz="150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81.21%</a:t>
            </a:r>
            <a:endParaRPr lang="ko-KR" altLang="en-US">
              <a:latin typeface="맑은 고딕"/>
              <a:ea typeface="맑은 고딕"/>
              <a:cs typeface="+mn-lt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5FBA8CF-9670-F5AE-D1BB-5FCCFD76C3FF}"/>
              </a:ext>
            </a:extLst>
          </p:cNvPr>
          <p:cNvSpPr/>
          <p:nvPr/>
        </p:nvSpPr>
        <p:spPr>
          <a:xfrm>
            <a:off x="7918704" y="2381068"/>
            <a:ext cx="3516085" cy="3108960"/>
          </a:xfrm>
          <a:prstGeom prst="roundRect">
            <a:avLst>
              <a:gd name="adj" fmla="val 2353"/>
            </a:avLst>
          </a:prstGeom>
          <a:solidFill>
            <a:srgbClr val="10243E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D644E34-1B33-BA35-B419-FDD70BBC67D8}"/>
              </a:ext>
            </a:extLst>
          </p:cNvPr>
          <p:cNvSpPr/>
          <p:nvPr/>
        </p:nvSpPr>
        <p:spPr>
          <a:xfrm>
            <a:off x="8238744" y="26553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err="1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더미</a:t>
            </a:r>
            <a:r>
              <a:rPr lang="en-US" sz="1800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en-US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800" err="1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예측</a:t>
            </a:r>
            <a:r>
              <a:rPr lang="en-US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err="1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결과</a:t>
            </a:r>
            <a:endParaRPr lang="ko-KR" altLang="en-US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97443C-3B72-CC14-0719-1211787389B7}"/>
              </a:ext>
            </a:extLst>
          </p:cNvPr>
          <p:cNvSpPr/>
          <p:nvPr/>
        </p:nvSpPr>
        <p:spPr>
          <a:xfrm>
            <a:off x="8238744" y="32954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40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대</a:t>
            </a:r>
            <a:r>
              <a:rPr lang="en-US" altLang="ko-KR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연쇄</a:t>
            </a:r>
            <a:r>
              <a:rPr lang="en-US" altLang="ko-KR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예측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0FE56FB-29D3-A093-FB12-248734130B42}"/>
              </a:ext>
            </a:extLst>
          </p:cNvPr>
          <p:cNvSpPr/>
          <p:nvPr/>
        </p:nvSpPr>
        <p:spPr>
          <a:xfrm>
            <a:off x="8238744" y="39538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차량 상태 범위 : 2.14~4.42점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C4EF043-0913-3AEE-87AC-3C04666A6D10}"/>
              </a:ext>
            </a:extLst>
          </p:cNvPr>
          <p:cNvSpPr/>
          <p:nvPr/>
        </p:nvSpPr>
        <p:spPr>
          <a:xfrm>
            <a:off x="8238744" y="4575919"/>
            <a:ext cx="3398520" cy="6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예상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50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가격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범위</a:t>
            </a:r>
            <a:r>
              <a:rPr lang="en-US" altLang="ko-KR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:</a:t>
            </a:r>
            <a:r>
              <a:rPr lang="en-US" altLang="ko-KR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약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67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만</a:t>
            </a:r>
            <a:r>
              <a:rPr 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~3,581</a:t>
            </a:r>
            <a:r>
              <a:rPr lang="ko-KR" altLang="en-US" sz="150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만원</a:t>
            </a:r>
            <a:endParaRPr lang="ko-KR" altLang="en-US">
              <a:latin typeface="맑은 고딕"/>
              <a:ea typeface="맑은 고딕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661504B-764C-BDAB-66AF-84F9F1E5EE93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DD4B8-B80A-97BF-0EDE-2606F8C52AFF}"/>
              </a:ext>
            </a:extLst>
          </p:cNvPr>
          <p:cNvSpPr txBox="1"/>
          <p:nvPr/>
        </p:nvSpPr>
        <p:spPr>
          <a:xfrm>
            <a:off x="542794" y="5773107"/>
            <a:ext cx="1080369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600">
                <a:latin typeface="Consolas"/>
                <a:ea typeface="맑은 고딕"/>
                <a:cs typeface="+mn-lt"/>
              </a:rPr>
              <a:t>모델 한계: 제한된 입력 변수와 예상 </a:t>
            </a:r>
            <a:r>
              <a:rPr lang="ko-KR" altLang="en-US" sz="1600">
                <a:latin typeface="Consolas"/>
                <a:ea typeface="맑은 고딕"/>
                <a:cs typeface="+mn-lt"/>
              </a:rPr>
              <a:t>상태를 토대로 예상 가격을 예측하는 구조로</a:t>
            </a:r>
            <a:r>
              <a:rPr lang="ko-KR" sz="1600">
                <a:latin typeface="Consolas"/>
                <a:ea typeface="맑은 고딕"/>
                <a:cs typeface="+mn-lt"/>
              </a:rPr>
              <a:t> 오차가 전달될 수 있음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994330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C014D-231A-07F4-618A-ABC97623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4BDB31-0D4D-8A2C-769E-7B09B584CD25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VALIDATION RESULT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50D009-5C7C-58A1-0C39-50A8C2F6D1FC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>
                <a:solidFill>
                  <a:srgbClr val="10243E"/>
                </a:solidFill>
                <a:ea typeface="+mn-lt"/>
                <a:cs typeface="+mn-lt"/>
              </a:rPr>
              <a:t>AI</a:t>
            </a:r>
            <a:r>
              <a:rPr lang="ko-KR" altLang="en-US" sz="300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sz="3000">
                <a:solidFill>
                  <a:srgbClr val="10243E"/>
                </a:solidFill>
                <a:ea typeface="+mn-lt"/>
                <a:cs typeface="+mn-lt"/>
              </a:rPr>
              <a:t>예측 </a:t>
            </a:r>
            <a:r>
              <a:rPr lang="ko-KR" altLang="en-US" sz="3000">
                <a:solidFill>
                  <a:srgbClr val="10243E"/>
                </a:solidFill>
                <a:ea typeface="+mn-lt"/>
                <a:cs typeface="+mn-lt"/>
              </a:rPr>
              <a:t>결과의 서비스 적용</a:t>
            </a:r>
            <a:endParaRPr lang="ko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73A19D-4BA2-CBE2-4D85-0F5C1506ECA2}"/>
              </a:ext>
            </a:extLst>
          </p:cNvPr>
          <p:cNvSpPr/>
          <p:nvPr/>
        </p:nvSpPr>
        <p:spPr>
          <a:xfrm>
            <a:off x="548640" y="2381068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A32B0A-3409-B5AC-3B14-4EC996695399}"/>
              </a:ext>
            </a:extLst>
          </p:cNvPr>
          <p:cNvSpPr/>
          <p:nvPr/>
        </p:nvSpPr>
        <p:spPr>
          <a:xfrm>
            <a:off x="868680" y="26553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>
                <a:solidFill>
                  <a:srgbClr val="10243E"/>
                </a:solidFill>
                <a:ea typeface="+mn-lt"/>
                <a:cs typeface="+mn-lt"/>
              </a:rPr>
              <a:t>이탈</a:t>
            </a:r>
            <a:r>
              <a:rPr lang="en-US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>
                <a:solidFill>
                  <a:srgbClr val="10243E"/>
                </a:solidFill>
                <a:ea typeface="+mn-lt"/>
                <a:cs typeface="+mn-lt"/>
              </a:rPr>
              <a:t>분석</a:t>
            </a:r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B7376A-CFE2-4ACF-3D5C-8E8E22497A02}"/>
              </a:ext>
            </a:extLst>
          </p:cNvPr>
          <p:cNvSpPr/>
          <p:nvPr/>
        </p:nvSpPr>
        <p:spPr>
          <a:xfrm>
            <a:off x="868680" y="32954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500">
                <a:solidFill>
                  <a:srgbClr val="1B242E"/>
                </a:solidFill>
                <a:ea typeface="+mn-lt"/>
                <a:cs typeface="+mn-lt"/>
              </a:rPr>
              <a:t>• company_churn · dealer_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churn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sz="1500">
                <a:solidFill>
                  <a:srgbClr val="1B242E"/>
                </a:solidFill>
                <a:ea typeface="+mn-lt"/>
                <a:cs typeface="+mn-lt"/>
              </a:rPr>
              <a:t>갱신</a:t>
            </a:r>
            <a:endParaRPr lang="ko-K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15481CD-45CB-07F1-656B-A3A4C40387A9}"/>
              </a:ext>
            </a:extLst>
          </p:cNvPr>
          <p:cNvSpPr/>
          <p:nvPr/>
        </p:nvSpPr>
        <p:spPr>
          <a:xfrm>
            <a:off x="868680" y="39538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•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관리자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화면에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확률과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사유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표시</a:t>
            </a:r>
            <a:endParaRPr lang="ko-K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62210-E2E6-3926-4850-D2DAC69B8483}"/>
              </a:ext>
            </a:extLst>
          </p:cNvPr>
          <p:cNvSpPr/>
          <p:nvPr/>
        </p:nvSpPr>
        <p:spPr>
          <a:xfrm>
            <a:off x="868680" y="461220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•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예측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시간은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한국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시간으로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표시</a:t>
            </a:r>
            <a:endParaRPr lang="ko-K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6654C54-4779-442F-E0F6-1FA72B0CEBE9}"/>
              </a:ext>
            </a:extLst>
          </p:cNvPr>
          <p:cNvSpPr/>
          <p:nvPr/>
        </p:nvSpPr>
        <p:spPr>
          <a:xfrm>
            <a:off x="4233672" y="2381068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097709-0E5F-79B4-9527-8790F3A46CFB}"/>
              </a:ext>
            </a:extLst>
          </p:cNvPr>
          <p:cNvSpPr/>
          <p:nvPr/>
        </p:nvSpPr>
        <p:spPr>
          <a:xfrm>
            <a:off x="4553712" y="26553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>
                <a:solidFill>
                  <a:srgbClr val="10243E"/>
                </a:solidFill>
                <a:ea typeface="+mn-lt"/>
                <a:cs typeface="+mn-lt"/>
              </a:rPr>
              <a:t>쿠폰</a:t>
            </a:r>
            <a:r>
              <a:rPr lang="en-US" altLang="ko-KR">
                <a:solidFill>
                  <a:srgbClr val="10243E"/>
                </a:solidFill>
                <a:ea typeface="+mn-lt"/>
                <a:cs typeface="+mn-lt"/>
              </a:rPr>
              <a:t> · </a:t>
            </a:r>
            <a:r>
              <a:rPr lang="ko-KR" altLang="en-US">
                <a:solidFill>
                  <a:srgbClr val="10243E"/>
                </a:solidFill>
                <a:ea typeface="+mn-lt"/>
                <a:cs typeface="+mn-lt"/>
              </a:rPr>
              <a:t>골든</a:t>
            </a:r>
            <a:r>
              <a:rPr lang="en-US" altLang="ko-KR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>
                <a:solidFill>
                  <a:srgbClr val="10243E"/>
                </a:solidFill>
                <a:ea typeface="+mn-lt"/>
                <a:cs typeface="+mn-lt"/>
              </a:rPr>
              <a:t>배지</a:t>
            </a:r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1BBA522-8121-E3FF-72F5-A1936931E20C}"/>
              </a:ext>
            </a:extLst>
          </p:cNvPr>
          <p:cNvSpPr/>
          <p:nvPr/>
        </p:nvSpPr>
        <p:spPr>
          <a:xfrm>
            <a:off x="4553712" y="32954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500">
                <a:solidFill>
                  <a:srgbClr val="1B242E"/>
                </a:solidFill>
                <a:ea typeface="+mn-lt"/>
                <a:cs typeface="+mn-lt"/>
              </a:rPr>
              <a:t>• 이탈 확률 70% 이상 수동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 쿠폰 </a:t>
            </a:r>
            <a:r>
              <a:rPr lang="ko-KR" sz="1500">
                <a:solidFill>
                  <a:srgbClr val="1B242E"/>
                </a:solidFill>
                <a:ea typeface="+mn-lt"/>
                <a:cs typeface="+mn-lt"/>
              </a:rPr>
              <a:t>지급</a:t>
            </a:r>
            <a:endParaRPr lang="ko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064F07A-F2F5-A8E4-3E06-01A1D9241204}"/>
              </a:ext>
            </a:extLst>
          </p:cNvPr>
          <p:cNvSpPr/>
          <p:nvPr/>
        </p:nvSpPr>
        <p:spPr>
          <a:xfrm>
            <a:off x="4553712" y="39538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•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안정도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상위</a:t>
            </a:r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 5%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회사에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골든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배지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부여</a:t>
            </a:r>
            <a:endParaRPr lang="ko-K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E6EB2AB-4884-24F2-C170-7732F2701D6E}"/>
              </a:ext>
            </a:extLst>
          </p:cNvPr>
          <p:cNvSpPr/>
          <p:nvPr/>
        </p:nvSpPr>
        <p:spPr>
          <a:xfrm>
            <a:off x="4553712" y="461220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•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보유</a:t>
            </a:r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·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사용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이력</a:t>
            </a:r>
            <a:r>
              <a:rPr lang="en-US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B242E"/>
                </a:solidFill>
                <a:ea typeface="+mn-lt"/>
                <a:cs typeface="+mn-lt"/>
              </a:rPr>
              <a:t>확인으로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중복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지급</a:t>
            </a:r>
            <a:r>
              <a:rPr lang="en-US" altLang="ko-KR" sz="150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500">
                <a:solidFill>
                  <a:srgbClr val="1B242E"/>
                </a:solidFill>
                <a:ea typeface="+mn-lt"/>
                <a:cs typeface="+mn-lt"/>
              </a:rPr>
              <a:t>방지</a:t>
            </a:r>
            <a:endParaRPr lang="ko-KR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C645ED0-3EA0-5936-166F-2D94ABE76AC4}"/>
              </a:ext>
            </a:extLst>
          </p:cNvPr>
          <p:cNvSpPr/>
          <p:nvPr/>
        </p:nvSpPr>
        <p:spPr>
          <a:xfrm>
            <a:off x="7918704" y="2381068"/>
            <a:ext cx="3516085" cy="3108960"/>
          </a:xfrm>
          <a:prstGeom prst="roundRect">
            <a:avLst>
              <a:gd name="adj" fmla="val 2353"/>
            </a:avLst>
          </a:prstGeom>
          <a:solidFill>
            <a:srgbClr val="10243E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82395B0-45E9-64D2-DA47-8E3393904915}"/>
              </a:ext>
            </a:extLst>
          </p:cNvPr>
          <p:cNvSpPr/>
          <p:nvPr/>
        </p:nvSpPr>
        <p:spPr>
          <a:xfrm>
            <a:off x="8238744" y="265538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>
                <a:solidFill>
                  <a:srgbClr val="FFFFFF"/>
                </a:solidFill>
                <a:ea typeface="+mn-lt"/>
                <a:cs typeface="+mn-lt"/>
              </a:rPr>
              <a:t>차량</a:t>
            </a:r>
            <a:r>
              <a:rPr lang="ko-KR" altLang="en-US">
                <a:solidFill>
                  <a:srgbClr val="FFFFFF"/>
                </a:solidFill>
                <a:ea typeface="+mn-lt"/>
                <a:cs typeface="+mn-lt"/>
              </a:rPr>
              <a:t> 추천</a:t>
            </a:r>
            <a:endParaRPr lang="ko-K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8E0ABFB-F834-1AC0-7852-C47EC17F4F54}"/>
              </a:ext>
            </a:extLst>
          </p:cNvPr>
          <p:cNvSpPr/>
          <p:nvPr/>
        </p:nvSpPr>
        <p:spPr>
          <a:xfrm>
            <a:off x="8238744" y="32954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• 회원: 선호 차량</a:t>
            </a:r>
            <a:r>
              <a:rPr lang="ko-KR" altLang="en-US" sz="150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en-US" altLang="ko-KR" sz="1500">
                <a:solidFill>
                  <a:srgbClr val="D7E6F2"/>
                </a:solidFill>
                <a:ea typeface="+mn-lt"/>
                <a:cs typeface="+mn-lt"/>
              </a:rPr>
              <a:t>/</a:t>
            </a:r>
            <a:r>
              <a:rPr lang="ko-KR" altLang="en-US" sz="150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최근</a:t>
            </a:r>
            <a:r>
              <a:rPr lang="ko-KR" altLang="en-US" sz="150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검색</a:t>
            </a:r>
            <a:r>
              <a:rPr lang="ko-KR" altLang="en-US" sz="150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기준</a:t>
            </a:r>
            <a:endParaRPr lang="ko-KR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AFABBE5-9703-F818-6BE4-C38791965220}"/>
              </a:ext>
            </a:extLst>
          </p:cNvPr>
          <p:cNvSpPr/>
          <p:nvPr/>
        </p:nvSpPr>
        <p:spPr>
          <a:xfrm>
            <a:off x="8238744" y="395383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• 딜러: 차량 상태 / 예상 가격 기준</a:t>
            </a:r>
            <a:endParaRPr lang="ko-K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AEF8C15-5BD0-D9F3-C0BE-CB1F072EDB2C}"/>
              </a:ext>
            </a:extLst>
          </p:cNvPr>
          <p:cNvSpPr/>
          <p:nvPr/>
        </p:nvSpPr>
        <p:spPr>
          <a:xfrm>
            <a:off x="8238744" y="4575919"/>
            <a:ext cx="3398520" cy="63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•</a:t>
            </a:r>
            <a:r>
              <a:rPr lang="ko-KR" altLang="en-US" sz="150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FastAPI</a:t>
            </a:r>
            <a:r>
              <a:rPr lang="ko-KR" altLang="en-US" sz="1500">
                <a:solidFill>
                  <a:srgbClr val="D7E6F2"/>
                </a:solidFill>
                <a:ea typeface="+mn-lt"/>
                <a:cs typeface="+mn-lt"/>
              </a:rPr>
              <a:t> 예측값을 화면에 </a:t>
            </a:r>
            <a:r>
              <a:rPr lang="ko-KR" sz="1500">
                <a:solidFill>
                  <a:srgbClr val="D7E6F2"/>
                </a:solidFill>
                <a:ea typeface="+mn-lt"/>
                <a:cs typeface="+mn-lt"/>
              </a:rPr>
              <a:t>표시</a:t>
            </a:r>
            <a:endParaRPr lang="ko-K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9CFE27-CEDA-732E-5682-A7A9608C8826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3046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BACKEND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Spring Boot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거래 흐름과 데이터 접근을 담당합니다</a:t>
            </a:r>
            <a:endParaRPr lang="en-US" sz="1400"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AF2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핵심</a:t>
            </a:r>
            <a:r>
              <a:rPr lang="en-US" sz="19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 </a:t>
            </a:r>
            <a:r>
              <a:rPr lang="en-US" sz="19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업무</a:t>
            </a:r>
            <a:endParaRPr lang="en-US" sz="1900" b="1">
              <a:latin typeface="맑은 고딕"/>
              <a:ea typeface="맑은 고딕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JWT Stateless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인증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 </a:t>
            </a:r>
            <a:r>
              <a:rPr lang="en-US" altLang="ko-KR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BCrypt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암호화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역할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기반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접근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제어</a:t>
            </a:r>
            <a:endParaRPr lang="en-US" sz="1450" err="1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경매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거래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실시간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채팅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알림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REST API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쿠폰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리뷰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신고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마이페이지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관리자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기능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0243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AI 연동</a:t>
            </a:r>
            <a:endParaRPr lang="en-US" sz="1900">
              <a:latin typeface="맑은 고딕"/>
              <a:ea typeface="맑은 고딕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DB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피처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집계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→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FastAPI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예측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요청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형식으로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변환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이탈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가치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구매자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추천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배치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API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호출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예측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결과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위험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점수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DB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저장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및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조회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제공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B381C-BF55-52A3-76BB-9FCBF933E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AAC0E6-4828-525D-01C7-53D7EB827AB3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BACKEND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79D907-F69C-2357-3AE2-A7D2EF817A4C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Spring Boot </a:t>
            </a:r>
            <a:r>
              <a:rPr lang="ko-KR" alt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보안</a:t>
            </a:r>
            <a:r>
              <a:rPr lang="en-US" altLang="ko-KR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 &amp; </a:t>
            </a:r>
            <a:r>
              <a:rPr lang="en-US" altLang="ko-KR" sz="3000" b="1" err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아키텍처</a:t>
            </a:r>
            <a:endParaRPr lang="en-US" altLang="ko-KR" sz="3000" b="1" err="1">
              <a:solidFill>
                <a:srgbClr val="10243E"/>
              </a:solidFill>
              <a:latin typeface="맑은 고딕"/>
              <a:ea typeface="맑은 고딕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AAFB25-222D-A372-DB74-71FA35649AE9}"/>
              </a:ext>
            </a:extLst>
          </p:cNvPr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인증 체계와 API 설계 원칙입니다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8CD67A-AAB7-3239-DAB3-AA2D579CA786}"/>
              </a:ext>
            </a:extLst>
          </p:cNvPr>
          <p:cNvSpPr/>
          <p:nvPr/>
        </p:nvSpPr>
        <p:spPr>
          <a:xfrm>
            <a:off x="5486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AF2F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B62B83-1BDA-4B9B-E3A7-E68E854BE487}"/>
              </a:ext>
            </a:extLst>
          </p:cNvPr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900" b="1">
                <a:solidFill>
                  <a:srgbClr val="10243E"/>
                </a:solidFill>
                <a:latin typeface="맑은 고딕"/>
                <a:ea typeface="맑은 고딕"/>
              </a:rPr>
              <a:t>인증 및 권한 관리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267A6B-EA47-136A-59EE-FBC1C632CEAF}"/>
              </a:ext>
            </a:extLst>
          </p:cNvPr>
          <p:cNvSpPr/>
          <p:nvPr/>
        </p:nvSpPr>
        <p:spPr>
          <a:xfrm>
            <a:off x="9144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JWT Stateless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인증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&amp;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 </a:t>
            </a:r>
            <a:r>
              <a:rPr lang="en-US" altLang="ko-KR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BCrypt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암호화 적용</a:t>
            </a:r>
            <a:endParaRPr lang="ko-KR" altLang="en-US" sz="1450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AE4198-3604-284C-86F4-F62B2A0606A4}"/>
              </a:ext>
            </a:extLst>
          </p:cNvPr>
          <p:cNvSpPr/>
          <p:nvPr/>
        </p:nvSpPr>
        <p:spPr>
          <a:xfrm>
            <a:off x="9144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4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종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역할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분리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(MEMBER · 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DEALER 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· 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COMPANY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· ADMIN)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77BC9F-492E-1EE7-1234-B4EFAEF201CD}"/>
              </a:ext>
            </a:extLst>
          </p:cNvPr>
          <p:cNvSpPr/>
          <p:nvPr/>
        </p:nvSpPr>
        <p:spPr>
          <a:xfrm>
            <a:off x="9144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loginId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중심</a:t>
            </a:r>
            <a:r>
              <a:rPr lang="en-US" altLang="ko-KR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식별자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체계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통합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 err="1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구축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5712A4-54D4-E7B1-0D39-65956C592A6F}"/>
              </a:ext>
            </a:extLst>
          </p:cNvPr>
          <p:cNvSpPr/>
          <p:nvPr/>
        </p:nvSpPr>
        <p:spPr>
          <a:xfrm>
            <a:off x="60350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0243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7A59B86-0365-FFC6-2CA2-BCAC7E64C444}"/>
              </a:ext>
            </a:extLst>
          </p:cNvPr>
          <p:cNvSpPr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900" b="1">
                <a:solidFill>
                  <a:schemeClr val="bg1"/>
                </a:solidFill>
                <a:latin typeface="맑은 고딕"/>
                <a:ea typeface="맑은 고딕"/>
                <a:cs typeface="Calibri"/>
              </a:rPr>
              <a:t>API &amp; 데이터 레이어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7961F1E-8BC8-17A1-24BA-C8891944C46D}"/>
              </a:ext>
            </a:extLst>
          </p:cNvPr>
          <p:cNvSpPr/>
          <p:nvPr/>
        </p:nvSpPr>
        <p:spPr>
          <a:xfrm>
            <a:off x="64008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PostgreSQL (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Supabase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) + Spring Data JPA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연동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427A894-6522-1E49-6681-8F6E68B6146B}"/>
              </a:ext>
            </a:extLst>
          </p:cNvPr>
          <p:cNvSpPr/>
          <p:nvPr/>
        </p:nvSpPr>
        <p:spPr>
          <a:xfrm>
            <a:off x="6400800" y="3840480"/>
            <a:ext cx="41946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통일된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ApiResponse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&lt;T&gt; &amp;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범주별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에러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코드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/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 명확한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예외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메시지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전달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EFC6708-E400-84E0-0CD8-5EA6E73C1600}"/>
              </a:ext>
            </a:extLst>
          </p:cNvPr>
          <p:cNvSpPr/>
          <p:nvPr/>
        </p:nvSpPr>
        <p:spPr>
          <a:xfrm>
            <a:off x="64008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Global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CORS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설정으로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React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프론트엔드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연동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6A007A5-63BA-6C89-A87D-E470BA51FF39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53502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F7BE0-C368-FA75-6E05-844A2B945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616039-FC6D-6678-90DF-3EEC10B15D79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BACKEND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16070D-89B9-D9D5-CFE1-346B15FE4831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latin typeface="맑은 고딕"/>
                <a:ea typeface="맑은 고딕"/>
                <a:cs typeface="+mn-lt"/>
              </a:rPr>
              <a:t>Spring Boot </a:t>
            </a:r>
            <a:r>
              <a:rPr lang="ko-KR" sz="3000" b="1">
                <a:latin typeface="맑은 고딕"/>
                <a:ea typeface="맑은 고딕"/>
                <a:cs typeface="+mn-lt"/>
              </a:rPr>
              <a:t>실시간</a:t>
            </a:r>
            <a:r>
              <a:rPr lang="en-US" sz="3000" b="1">
                <a:latin typeface="맑은 고딕"/>
                <a:ea typeface="맑은 고딕"/>
                <a:cs typeface="+mn-lt"/>
              </a:rPr>
              <a:t> </a:t>
            </a:r>
            <a:r>
              <a:rPr lang="ko-KR" sz="3000" b="1">
                <a:latin typeface="맑은 고딕"/>
                <a:ea typeface="맑은 고딕"/>
                <a:cs typeface="+mn-lt"/>
              </a:rPr>
              <a:t>서비스</a:t>
            </a:r>
            <a:r>
              <a:rPr lang="en-US" sz="3000" b="1">
                <a:latin typeface="맑은 고딕"/>
                <a:ea typeface="맑은 고딕"/>
                <a:cs typeface="+mn-lt"/>
              </a:rPr>
              <a:t> &amp; A</a:t>
            </a:r>
            <a:r>
              <a:rPr lang="en-US" sz="3000" b="1">
                <a:latin typeface="Malgun Gothic"/>
                <a:ea typeface="Malgun Gothic"/>
                <a:cs typeface="+mn-lt"/>
              </a:rPr>
              <a:t>I</a:t>
            </a:r>
            <a:r>
              <a:rPr lang="en-US" altLang="ko-KR" sz="3000" b="1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3000" b="1">
                <a:latin typeface="Malgun Gothic"/>
                <a:ea typeface="Malgun Gothic"/>
                <a:cs typeface="+mn-lt"/>
              </a:rPr>
              <a:t>오류</a:t>
            </a:r>
            <a:r>
              <a:rPr lang="en-US" altLang="ko-KR" sz="3000" b="1"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3000" b="1">
                <a:latin typeface="Malgun Gothic"/>
                <a:ea typeface="Malgun Gothic"/>
                <a:cs typeface="+mn-lt"/>
              </a:rPr>
              <a:t>내성</a:t>
            </a:r>
            <a:r>
              <a:rPr lang="en-US" altLang="ko-KR" sz="3000" b="1">
                <a:latin typeface="Malgun Gothic"/>
                <a:ea typeface="Malgun Gothic"/>
                <a:cs typeface="+mn-lt"/>
              </a:rPr>
              <a:t>(</a:t>
            </a:r>
            <a:r>
              <a:rPr lang="ko-KR" altLang="en-US" sz="3000" b="1">
                <a:latin typeface="Malgun Gothic"/>
                <a:ea typeface="Malgun Gothic"/>
                <a:cs typeface="+mn-lt"/>
              </a:rPr>
              <a:t>안정성</a:t>
            </a:r>
            <a:r>
              <a:rPr lang="en-US" altLang="ko-KR" sz="3000" b="1">
                <a:latin typeface="Malgun Gothic"/>
                <a:ea typeface="Malgun Gothic"/>
                <a:cs typeface="+mn-lt"/>
              </a:rPr>
              <a:t>) </a:t>
            </a:r>
            <a:r>
              <a:rPr lang="ko-KR" altLang="en-US" sz="3000" b="1">
                <a:latin typeface="Malgun Gothic"/>
                <a:ea typeface="Malgun Gothic"/>
                <a:cs typeface="+mn-lt"/>
              </a:rPr>
              <a:t>설계</a:t>
            </a:r>
            <a:endParaRPr lang="ko-KR" altLang="en-US" sz="3000" b="1">
              <a:latin typeface="Malgun Gothic"/>
              <a:ea typeface="Malgun Gothic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782F43-649C-96F2-E1F1-D78EA69FB357}"/>
              </a:ext>
            </a:extLst>
          </p:cNvPr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400" i="1">
                <a:solidFill>
                  <a:srgbClr val="2E5266"/>
                </a:solidFill>
                <a:latin typeface="맑은 고딕"/>
                <a:ea typeface="맑은 고딕"/>
                <a:cs typeface="+mn-lt"/>
              </a:rPr>
              <a:t>실시간 통신과 안정적인 AI 연동 프로세스입니다</a:t>
            </a:r>
            <a:endParaRPr lang="ko-KR" i="1">
              <a:latin typeface="맑은 고딕"/>
              <a:ea typeface="맑은 고딕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949DE5-585A-879C-D7C1-6B461DCA22E5}"/>
              </a:ext>
            </a:extLst>
          </p:cNvPr>
          <p:cNvSpPr/>
          <p:nvPr/>
        </p:nvSpPr>
        <p:spPr>
          <a:xfrm>
            <a:off x="5486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AF2F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066FDDC-8858-E762-5E54-AA0A94D86884}"/>
              </a:ext>
            </a:extLst>
          </p:cNvPr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900" b="1">
                <a:solidFill>
                  <a:srgbClr val="10243E"/>
                </a:solidFill>
                <a:latin typeface="맑은 고딕"/>
                <a:ea typeface="맑은 고딕"/>
              </a:rPr>
              <a:t>실시간 채팅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BF39D8-F72C-5C09-939F-B0A8C4473EED}"/>
              </a:ext>
            </a:extLst>
          </p:cNvPr>
          <p:cNvSpPr/>
          <p:nvPr/>
        </p:nvSpPr>
        <p:spPr>
          <a:xfrm>
            <a:off x="9144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WebSocket + 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STOMP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기반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1:1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실시간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대화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지원</a:t>
            </a:r>
            <a:endParaRPr lang="ko-KR" altLang="en-US" sz="1450">
              <a:solidFill>
                <a:srgbClr val="1B242E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EE3E67-D4E8-C133-4270-ED7886839A18}"/>
              </a:ext>
            </a:extLst>
          </p:cNvPr>
          <p:cNvSpPr/>
          <p:nvPr/>
        </p:nvSpPr>
        <p:spPr>
          <a:xfrm>
            <a:off x="9144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SockJS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폴백으로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네트워크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호환성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보장</a:t>
            </a:r>
            <a:endParaRPr lang="en-US" sz="1450">
              <a:latin typeface="맑은 고딕"/>
              <a:ea typeface="맑은 고딕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F58A89F-D431-CA12-8210-687241252926}"/>
              </a:ext>
            </a:extLst>
          </p:cNvPr>
          <p:cNvSpPr/>
          <p:nvPr/>
        </p:nvSpPr>
        <p:spPr>
          <a:xfrm>
            <a:off x="9144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Calibri"/>
              </a:rPr>
              <a:t>• </a:t>
            </a:r>
            <a:r>
              <a:rPr lang="en-US" sz="1450">
                <a:solidFill>
                  <a:srgbClr val="1B242E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채팅방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개설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·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B242E"/>
                </a:solidFill>
                <a:ea typeface="+mn-lt"/>
                <a:cs typeface="+mn-lt"/>
              </a:rPr>
              <a:t>대화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내역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영구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DB</a:t>
            </a:r>
            <a:r>
              <a:rPr 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저장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1DAFB89-53FA-B660-F50F-5569897A0063}"/>
              </a:ext>
            </a:extLst>
          </p:cNvPr>
          <p:cNvSpPr/>
          <p:nvPr/>
        </p:nvSpPr>
        <p:spPr>
          <a:xfrm>
            <a:off x="60350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0243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7DA39F5-FAD0-05DD-4A00-1368B08AED7C}"/>
              </a:ext>
            </a:extLst>
          </p:cNvPr>
          <p:cNvSpPr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900" b="1">
                <a:solidFill>
                  <a:schemeClr val="bg1"/>
                </a:solidFill>
                <a:latin typeface="맑은 고딕"/>
                <a:ea typeface="맑은 고딕"/>
                <a:cs typeface="Calibri"/>
              </a:rPr>
              <a:t>AI 연동 &amp; 안정성 설계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B1AF83-05D9-702A-3C7B-F38447604BCA}"/>
              </a:ext>
            </a:extLst>
          </p:cNvPr>
          <p:cNvSpPr/>
          <p:nvPr/>
        </p:nvSpPr>
        <p:spPr>
          <a:xfrm>
            <a:off x="64008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 </a:t>
            </a:r>
            <a:r>
              <a:rPr lang="en-US" sz="1450" err="1">
                <a:solidFill>
                  <a:srgbClr val="D7E6F2"/>
                </a:solidFill>
                <a:ea typeface="+mn-lt"/>
                <a:cs typeface="+mn-lt"/>
              </a:rPr>
              <a:t>RestTemplate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기반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동기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REST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연동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 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(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가치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·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이탈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예측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)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B8F764-470D-56DE-BF51-D40042336FF2}"/>
              </a:ext>
            </a:extLst>
          </p:cNvPr>
          <p:cNvSpPr/>
          <p:nvPr/>
        </p:nvSpPr>
        <p:spPr>
          <a:xfrm>
            <a:off x="64008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AI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분석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실패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시에도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차량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등록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유지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(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장애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격리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)</a:t>
            </a:r>
            <a:endParaRPr lang="en-US" sz="145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0A35E63-FAA5-0B6F-A1E4-11810DE299E9}"/>
              </a:ext>
            </a:extLst>
          </p:cNvPr>
          <p:cNvSpPr/>
          <p:nvPr/>
        </p:nvSpPr>
        <p:spPr>
          <a:xfrm>
            <a:off x="64008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Calibri"/>
              </a:rPr>
              <a:t>•  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@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Transactional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트랜잭션으로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데이터</a:t>
            </a:r>
            <a:r>
              <a:rPr lang="en-US" altLang="ko-KR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일관성</a:t>
            </a:r>
            <a:r>
              <a:rPr 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latin typeface="맑은 고딕"/>
                <a:ea typeface="맑은 고딕"/>
                <a:cs typeface="+mn-lt"/>
              </a:rPr>
              <a:t>보장</a:t>
            </a:r>
            <a:endParaRPr lang="en-US" altLang="ko-KR" sz="1450">
              <a:solidFill>
                <a:srgbClr val="000000"/>
              </a:solidFill>
              <a:latin typeface="맑은 고딕"/>
              <a:ea typeface="맑은 고딕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51E46B9-4078-1A19-F33F-347648E27925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78758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7B63E-44D6-482C-84BE-AC12D729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0A1502-D582-8EE7-7A10-8B56DBE7F924}"/>
              </a:ext>
            </a:extLst>
          </p:cNvPr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BACKEND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64995F-5DBF-0DAF-1042-10BFDDAFA9B2}"/>
              </a:ext>
            </a:extLst>
          </p:cNvPr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>
                <a:ea typeface="+mn-lt"/>
                <a:cs typeface="+mn-lt"/>
              </a:rPr>
              <a:t>Spring Boot </a:t>
            </a:r>
            <a:r>
              <a:rPr lang="ko-KR" sz="3000">
                <a:ea typeface="+mn-lt"/>
                <a:cs typeface="+mn-lt"/>
              </a:rPr>
              <a:t>서비스</a:t>
            </a:r>
            <a:r>
              <a:rPr lang="ko-KR" altLang="en-US" sz="3000">
                <a:ea typeface="+mn-lt"/>
                <a:cs typeface="+mn-lt"/>
              </a:rPr>
              <a:t> 운영 기능</a:t>
            </a:r>
            <a:endParaRPr lang="ko-K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79C5C4-9C08-1753-4A1D-0CA328BD7751}"/>
              </a:ext>
            </a:extLst>
          </p:cNvPr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>
                <a:solidFill>
                  <a:srgbClr val="2E5266"/>
                </a:solidFill>
                <a:ea typeface="+mn-lt"/>
                <a:cs typeface="+mn-lt"/>
              </a:rPr>
              <a:t>쿠폰</a:t>
            </a:r>
            <a:r>
              <a:rPr lang="en-US" altLang="ko-KR" sz="1400">
                <a:solidFill>
                  <a:srgbClr val="2E5266"/>
                </a:solidFill>
                <a:ea typeface="+mn-lt"/>
                <a:cs typeface="+mn-lt"/>
              </a:rPr>
              <a:t>·</a:t>
            </a:r>
            <a:r>
              <a:rPr lang="ko-KR" altLang="en-US" sz="1400">
                <a:solidFill>
                  <a:srgbClr val="2E5266"/>
                </a:solidFill>
                <a:ea typeface="+mn-lt"/>
                <a:cs typeface="+mn-lt"/>
              </a:rPr>
              <a:t>알림</a:t>
            </a:r>
            <a:r>
              <a:rPr lang="en-US" altLang="ko-KR" sz="1400">
                <a:solidFill>
                  <a:srgbClr val="2E5266"/>
                </a:solidFill>
                <a:ea typeface="+mn-lt"/>
                <a:cs typeface="+mn-lt"/>
              </a:rPr>
              <a:t>·</a:t>
            </a:r>
            <a:r>
              <a:rPr lang="ko-KR" altLang="en-US" sz="1400">
                <a:solidFill>
                  <a:srgbClr val="2E5266"/>
                </a:solidFill>
                <a:ea typeface="+mn-lt"/>
                <a:cs typeface="+mn-lt"/>
              </a:rPr>
              <a:t>사용자 기능을 실제 거래 흐름에 연결했습니다</a:t>
            </a:r>
            <a:endParaRPr lang="ko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A1E0F7C-AC17-7061-3747-9C076D51BAFD}"/>
              </a:ext>
            </a:extLst>
          </p:cNvPr>
          <p:cNvSpPr/>
          <p:nvPr/>
        </p:nvSpPr>
        <p:spPr>
          <a:xfrm>
            <a:off x="5486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EAF2F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7C40D8-DF8A-721E-356D-24E539A3B6EE}"/>
              </a:ext>
            </a:extLst>
          </p:cNvPr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00">
                <a:solidFill>
                  <a:srgbClr val="10243E"/>
                </a:solidFill>
                <a:ea typeface="+mn-lt"/>
                <a:cs typeface="+mn-lt"/>
              </a:rPr>
              <a:t>쿠폰 · 거래 지원</a:t>
            </a:r>
            <a:endParaRPr lang="ko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C0DA03-417F-91C9-DAA3-1DF7ACA8B601}"/>
              </a:ext>
            </a:extLst>
          </p:cNvPr>
          <p:cNvSpPr/>
          <p:nvPr/>
        </p:nvSpPr>
        <p:spPr>
          <a:xfrm>
            <a:off x="9144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•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이탈 확률 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70%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 이상 딜러에게 수동 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쿠폰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지급</a:t>
            </a:r>
            <a:endParaRPr lang="ko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EAAE7DA-2E8F-3ED0-BDD3-EC01B6B06AA7}"/>
              </a:ext>
            </a:extLst>
          </p:cNvPr>
          <p:cNvSpPr/>
          <p:nvPr/>
        </p:nvSpPr>
        <p:spPr>
          <a:xfrm>
            <a:off x="9144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•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보유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·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사용 이력 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확인으로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중복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 지급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 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방지</a:t>
            </a:r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E98A61-FA1F-E3B1-C81D-55E3FDBC3508}"/>
              </a:ext>
            </a:extLst>
          </p:cNvPr>
          <p:cNvSpPr/>
          <p:nvPr/>
        </p:nvSpPr>
        <p:spPr>
          <a:xfrm>
            <a:off x="9144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•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발급 후 </a:t>
            </a:r>
            <a:r>
              <a:rPr lang="en-US" altLang="ko-KR" sz="1450">
                <a:solidFill>
                  <a:srgbClr val="1B242E"/>
                </a:solidFill>
                <a:ea typeface="+mn-lt"/>
                <a:cs typeface="+mn-lt"/>
              </a:rPr>
              <a:t>30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일 동안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 사용자 </a:t>
            </a:r>
            <a:r>
              <a:rPr lang="ko-KR" altLang="en-US" sz="1450">
                <a:solidFill>
                  <a:srgbClr val="1B242E"/>
                </a:solidFill>
                <a:ea typeface="+mn-lt"/>
                <a:cs typeface="+mn-lt"/>
              </a:rPr>
              <a:t>화면에 </a:t>
            </a:r>
            <a:r>
              <a:rPr lang="ko-KR" sz="1450">
                <a:solidFill>
                  <a:srgbClr val="1B242E"/>
                </a:solidFill>
                <a:ea typeface="+mn-lt"/>
                <a:cs typeface="+mn-lt"/>
              </a:rPr>
              <a:t>노출</a:t>
            </a:r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A35987-E50A-A68B-E0C4-6A330FAC9E99}"/>
              </a:ext>
            </a:extLst>
          </p:cNvPr>
          <p:cNvSpPr/>
          <p:nvPr/>
        </p:nvSpPr>
        <p:spPr>
          <a:xfrm>
            <a:off x="603504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0243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B76CAF6-61C6-1274-58D9-FFFADD551D10}"/>
              </a:ext>
            </a:extLst>
          </p:cNvPr>
          <p:cNvSpPr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00">
                <a:solidFill>
                  <a:schemeClr val="bg1"/>
                </a:solidFill>
                <a:ea typeface="+mn-lt"/>
                <a:cs typeface="+mn-lt"/>
              </a:rPr>
              <a:t>알림 · 사용자 기능</a:t>
            </a:r>
            <a:endParaRPr lang="ko-K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E1D477-4D69-1AC8-8E47-E85D2B7C2061}"/>
              </a:ext>
            </a:extLst>
          </p:cNvPr>
          <p:cNvSpPr/>
          <p:nvPr/>
        </p:nvSpPr>
        <p:spPr>
          <a:xfrm>
            <a:off x="640080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•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경매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·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거래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상황별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실시간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알림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제공</a:t>
            </a:r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CE38811-9F1A-B2A2-13D9-0A27E3A6B16F}"/>
              </a:ext>
            </a:extLst>
          </p:cNvPr>
          <p:cNvSpPr/>
          <p:nvPr/>
        </p:nvSpPr>
        <p:spPr>
          <a:xfrm>
            <a:off x="640080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•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찜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차량과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사용자별</a:t>
            </a:r>
            <a:r>
              <a:rPr lang="en-US" altLang="ko-KR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버튼</a:t>
            </a:r>
            <a:r>
              <a:rPr 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ea typeface="+mn-lt"/>
                <a:cs typeface="+mn-lt"/>
              </a:rPr>
              <a:t>표시</a:t>
            </a:r>
            <a:r>
              <a:rPr lang="en-US" altLang="ko-KR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ea typeface="+mn-lt"/>
                <a:cs typeface="+mn-lt"/>
              </a:rPr>
              <a:t>조건</a:t>
            </a:r>
            <a:r>
              <a:rPr lang="en-US" altLang="ko-KR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D7E6F2"/>
                </a:solidFill>
                <a:ea typeface="+mn-lt"/>
                <a:cs typeface="+mn-lt"/>
              </a:rPr>
              <a:t>분리</a:t>
            </a:r>
            <a:endParaRPr lang="ko-KR" altLang="en-US" err="1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DE51FED-B26D-B314-27EE-7F2B123D60F1}"/>
              </a:ext>
            </a:extLst>
          </p:cNvPr>
          <p:cNvSpPr/>
          <p:nvPr/>
        </p:nvSpPr>
        <p:spPr>
          <a:xfrm>
            <a:off x="6400800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altLang="ko-KR" sz="1450">
                <a:solidFill>
                  <a:srgbClr val="D7E6F2"/>
                </a:solidFill>
                <a:ea typeface="+mn-lt"/>
                <a:cs typeface="+mn-lt"/>
              </a:rPr>
              <a:t>•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경매 </a:t>
            </a:r>
            <a:r>
              <a:rPr lang="ko-KR" sz="1450">
                <a:solidFill>
                  <a:srgbClr val="D7E6F2"/>
                </a:solidFill>
                <a:ea typeface="+mn-lt"/>
                <a:cs typeface="+mn-lt"/>
              </a:rPr>
              <a:t>수수료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결제에</a:t>
            </a:r>
            <a:r>
              <a:rPr lang="ko-KR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미사용</a:t>
            </a:r>
            <a:r>
              <a:rPr lang="ko-KR" sz="1450">
                <a:solidFill>
                  <a:srgbClr val="D7E6F2"/>
                </a:solidFill>
                <a:ea typeface="+mn-lt"/>
                <a:cs typeface="+mn-lt"/>
              </a:rPr>
              <a:t> 쿠폰</a:t>
            </a:r>
            <a:r>
              <a:rPr lang="ko-KR" altLang="en-US" sz="1450">
                <a:solidFill>
                  <a:srgbClr val="D7E6F2"/>
                </a:solidFill>
                <a:ea typeface="+mn-lt"/>
                <a:cs typeface="+mn-lt"/>
              </a:rPr>
              <a:t> </a:t>
            </a:r>
            <a:r>
              <a:rPr lang="ko-KR" sz="1450">
                <a:solidFill>
                  <a:srgbClr val="D7E6F2"/>
                </a:solidFill>
                <a:ea typeface="+mn-lt"/>
                <a:cs typeface="+mn-lt"/>
              </a:rPr>
              <a:t>적용</a:t>
            </a:r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6654BC-E7D0-1745-F7C5-127AE6925B57}"/>
              </a:ext>
            </a:extLst>
          </p:cNvPr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68501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FRONTEND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React 프론트엔드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5650" y="1709181"/>
            <a:ext cx="11072002" cy="4502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>
                <a:solidFill>
                  <a:srgbClr val="10243E"/>
                </a:solidFill>
                <a:ea typeface="+mn-lt"/>
                <a:cs typeface="+mn-lt"/>
              </a:rPr>
              <a:t>Axios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인터셉터로</a:t>
            </a:r>
            <a:r>
              <a:rPr lang="en-US" sz="1550">
                <a:solidFill>
                  <a:srgbClr val="10243E"/>
                </a:solidFill>
                <a:ea typeface="+mn-lt"/>
                <a:cs typeface="+mn-lt"/>
              </a:rPr>
              <a:t> JWT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인증을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공통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처리하고</a:t>
            </a:r>
            <a:r>
              <a:rPr lang="en-US" sz="1550">
                <a:solidFill>
                  <a:srgbClr val="10243E"/>
                </a:solidFill>
                <a:ea typeface="+mn-lt"/>
                <a:cs typeface="+mn-lt"/>
              </a:rPr>
              <a:t>,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역할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기반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라우팅으로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사용자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권한에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맞는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페이지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접근만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허용하도록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구성</a:t>
            </a:r>
          </a:p>
          <a:p>
            <a:endParaRPr lang="ko-KR" altLang="en-US" sz="1550">
              <a:solidFill>
                <a:srgbClr val="10243E"/>
              </a:solidFill>
              <a:ea typeface="+mn-lt"/>
              <a:cs typeface="+mn-lt"/>
            </a:endParaRPr>
          </a:p>
          <a:p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React lazy loading과 메뉴 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hover</a:t>
            </a:r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 기반 </a:t>
            </a:r>
            <a:r>
              <a:rPr lang="en-US" altLang="ko-KR" sz="1550">
                <a:solidFill>
                  <a:srgbClr val="10243E"/>
                </a:solidFill>
                <a:ea typeface="+mn-lt"/>
                <a:cs typeface="+mn-lt"/>
              </a:rPr>
              <a:t>prefetch</a:t>
            </a:r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를 추가해 페이지 단위 코드 스플리팅을 통해 </a:t>
            </a:r>
            <a:endParaRPr lang="ko-KR" altLang="en-US" sz="1550">
              <a:solidFill>
                <a:srgbClr val="10243E"/>
              </a:solidFill>
              <a:ea typeface="맑은 고딕" panose="020B0503020000020004" pitchFamily="34" charset="-127"/>
              <a:cs typeface="+mn-lt"/>
            </a:endParaRPr>
          </a:p>
          <a:p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사용자가 실제로 필요한 화면만 내려받도록 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구현</a:t>
            </a:r>
            <a:endParaRPr lang="ko-KR" altLang="en-US" sz="1550">
              <a:solidFill>
                <a:srgbClr val="10243E"/>
              </a:solidFill>
              <a:ea typeface="맑은 고딕"/>
              <a:cs typeface="Calibri"/>
            </a:endParaRPr>
          </a:p>
          <a:p>
            <a:endParaRPr lang="ko-KR" altLang="en-US" sz="1550">
              <a:solidFill>
                <a:srgbClr val="10243E"/>
              </a:solidFill>
              <a:cs typeface="Calibri"/>
            </a:endParaRPr>
          </a:p>
          <a:p>
            <a:endParaRPr lang="ko-KR" altLang="en-US" sz="1550">
              <a:solidFill>
                <a:srgbClr val="10243E"/>
              </a:solidFill>
              <a:ea typeface="맑은 고딕" panose="020B0503020000020004" pitchFamily="34" charset="-127"/>
              <a:cs typeface="+mn-lt"/>
            </a:endParaRPr>
          </a:p>
          <a:p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Promise.all을 활용한 병렬 API 호출과 useMemo,</a:t>
            </a:r>
            <a:r>
              <a:rPr lang="ko-KR" altLang="en-US" sz="1550">
                <a:solidFill>
                  <a:srgbClr val="10243E"/>
                </a:solidFill>
                <a:ea typeface="+mn-lt"/>
                <a:cs typeface="+mn-lt"/>
              </a:rPr>
              <a:t>를</a:t>
            </a:r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 통해 데이터 로딩과 렌더링 비용감소</a:t>
            </a:r>
            <a:endParaRPr lang="ko-KR" sz="1550">
              <a:solidFill>
                <a:srgbClr val="10243E"/>
              </a:solidFill>
              <a:ea typeface="맑은 고딕" panose="020B0503020000020004" pitchFamily="34" charset="-127"/>
              <a:cs typeface="+mn-lt"/>
            </a:endParaRPr>
          </a:p>
          <a:p>
            <a:endParaRPr lang="ko-KR" sz="1550">
              <a:solidFill>
                <a:srgbClr val="10243E"/>
              </a:solidFill>
              <a:cs typeface="Calibri"/>
            </a:endParaRPr>
          </a:p>
          <a:p>
            <a:r>
              <a:rPr lang="ko-KR" sz="1550">
                <a:solidFill>
                  <a:srgbClr val="10243E"/>
                </a:solidFill>
                <a:ea typeface="+mn-lt"/>
                <a:cs typeface="+mn-lt"/>
              </a:rPr>
              <a:t>마지막으로 API 오류 처리, 권한 오류 페이지, Error Boundary를 적용하여 서버 오류나 페이지 로딩 실패 상황에서도 사용자가 서비스를 계속 이용하거나 복구할 수 있도록 구현</a:t>
            </a:r>
            <a:endParaRPr lang="ko-KR">
              <a:ea typeface="+mn-lt"/>
              <a:cs typeface="+mn-lt"/>
            </a:endParaRPr>
          </a:p>
          <a:p>
            <a:endParaRPr lang="ko-KR" altLang="en-US" sz="1550">
              <a:solidFill>
                <a:srgbClr val="10243E"/>
              </a:solidFill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SERVICE FLOW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서비스 흐름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1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요청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React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로그인 · 조회 · 예측 실행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4622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사용자 입력 전송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59352" y="3657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33672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07992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2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02352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처리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07992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Spring Boot + FastAPI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07992" y="38404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DB 피처 집계 → 모델 예측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07992" y="44622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결과 저장과 API 응답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44384" y="365760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2A93B"/>
                </a:solidFill>
                <a:latin typeface="맑은 고딕"/>
                <a:ea typeface="맑은 고딕"/>
                <a:cs typeface="Calibri" pitchFamily="34" charset="-120"/>
              </a:rPr>
              <a:t>→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18704" y="214884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EAF2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193024" y="2468880"/>
            <a:ext cx="502920" cy="502920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23" name="Text 21"/>
          <p:cNvSpPr/>
          <p:nvPr/>
        </p:nvSpPr>
        <p:spPr>
          <a:xfrm>
            <a:off x="8193024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3</a:t>
            </a:r>
            <a:endParaRPr lang="en-US" sz="1800">
              <a:latin typeface="맑은 고딕"/>
              <a:ea typeface="맑은 고딕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87384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표시</a:t>
            </a:r>
            <a:endParaRPr lang="en-US" sz="1200">
              <a:latin typeface="맑은 고딕"/>
              <a:ea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93024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결과 화면</a:t>
            </a:r>
            <a:endParaRPr lang="en-US" sz="1700">
              <a:latin typeface="맑은 고딕"/>
              <a:ea typeface="맑은 고딕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193024" y="38404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이탈 확률 · 위험 사유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93024" y="44622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Condition · MMR · 추천 표시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2E5266"/>
                </a:solidFill>
                <a:latin typeface="맑은 고딕"/>
                <a:ea typeface="맑은 고딕"/>
                <a:cs typeface="Calibri" pitchFamily="34" charset="-120"/>
              </a:rPr>
              <a:t>PROGRESS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구현 현황</a:t>
            </a:r>
            <a:endParaRPr lang="en-US" sz="3000">
              <a:latin typeface="맑은 고딕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현재는</a:t>
            </a: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핵심</a:t>
            </a: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기능</a:t>
            </a: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구현</a:t>
            </a: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후 </a:t>
            </a:r>
            <a:r>
              <a:rPr lang="en-US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로컬</a:t>
            </a:r>
            <a:r>
              <a:rPr 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ko-KR" altLang="en-US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연동</a:t>
            </a:r>
            <a:r>
              <a:rPr lang="en-US" altLang="ko-KR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및 </a:t>
            </a:r>
            <a:r>
              <a:rPr lang="en-US" altLang="ko-KR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통합</a:t>
            </a:r>
            <a:r>
              <a:rPr lang="en-US" altLang="ko-KR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altLang="ko-KR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검증</a:t>
            </a:r>
            <a:r>
              <a:rPr lang="en-US" altLang="ko-KR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 </a:t>
            </a:r>
            <a:r>
              <a:rPr lang="en-US" altLang="ko-KR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결과</a:t>
            </a:r>
            <a:r>
              <a:rPr lang="en-US" altLang="ko-KR" sz="1400" i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en-US" sz="1400" i="1" err="1">
                <a:solidFill>
                  <a:srgbClr val="2E5266"/>
                </a:solidFill>
                <a:latin typeface="맑은 고딕"/>
                <a:ea typeface="맑은 고딕"/>
                <a:cs typeface="Calibri"/>
              </a:rPr>
              <a:t>단계입니다</a:t>
            </a:r>
            <a:endParaRPr lang="en-US" sz="1400" err="1">
              <a:latin typeface="맑은 고딕"/>
              <a:ea typeface="맑은 고딕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>
                <a:solidFill>
                  <a:srgbClr val="5B6B79"/>
                </a:solidFill>
                <a:latin typeface="맑은 고딕"/>
                <a:ea typeface="맑은 고딕"/>
                <a:cs typeface="Calibri" pitchFamily="34" charset="-120"/>
              </a:rPr>
              <a:t>세 영역의 핵심 API와 화면이 준비되어 있으며, 테스트 페이지에서 실제 DB 기반 예측 흐름을 확인하고 있습니다.</a:t>
            </a:r>
            <a:endParaRPr lang="en-US" sz="1300">
              <a:latin typeface="맑은 고딕"/>
              <a:ea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8892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  <a:cs typeface="Calibri"/>
              </a:rPr>
              <a:t>검증중</a:t>
            </a:r>
            <a:endParaRPr lang="en-US" sz="1050">
              <a:latin typeface="맑은 고딕"/>
              <a:ea typeface="맑은 고딕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Backend</a:t>
            </a:r>
            <a:endParaRPr lang="en-US" sz="1900">
              <a:latin typeface="맑은 고딕"/>
              <a:ea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거래 · 인증 · 관리 API</a:t>
            </a:r>
            <a:endParaRPr lang="en-US" sz="1350">
              <a:latin typeface="맑은 고딕"/>
              <a:ea typeface="맑은 고딕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6908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DB 조회와 결과 저장</a:t>
            </a:r>
            <a:endParaRPr lang="en-US" sz="1350">
              <a:latin typeface="맑은 고딕"/>
              <a:ea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33672" y="25146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1024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7992" y="278892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2788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b="1">
                <a:solidFill>
                  <a:srgbClr val="10243E"/>
                </a:solidFill>
                <a:latin typeface="맑은 고딕"/>
                <a:ea typeface="맑은 고딕"/>
                <a:cs typeface="Calibri"/>
              </a:rPr>
              <a:t>검증중</a:t>
            </a:r>
          </a:p>
        </p:txBody>
      </p:sp>
      <p:sp>
        <p:nvSpPr>
          <p:cNvPr id="15" name="Text 13"/>
          <p:cNvSpPr/>
          <p:nvPr/>
        </p:nvSpPr>
        <p:spPr>
          <a:xfrm>
            <a:off x="4507992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AI API</a:t>
            </a:r>
            <a:endParaRPr lang="en-US" sz="1900">
              <a:latin typeface="맑은 고딕"/>
              <a:ea typeface="맑은 고딕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07992" y="40690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•  이탈 · 차량 · 추천 예측</a:t>
            </a:r>
            <a:endParaRPr lang="en-US" sz="1350">
              <a:latin typeface="맑은 고딕"/>
              <a:ea typeface="맑은 고딕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07992" y="46908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D7E6F2"/>
                </a:solidFill>
                <a:latin typeface="맑은 고딕"/>
                <a:ea typeface="맑은 고딕"/>
                <a:cs typeface="Calibri" pitchFamily="34" charset="-120"/>
              </a:rPr>
              <a:t>•  모델 응답 규격화</a:t>
            </a:r>
            <a:endParaRPr lang="en-US" sz="1350">
              <a:latin typeface="맑은 고딕"/>
              <a:ea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18704" y="25146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AF2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93024" y="278892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2788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>
                <a:solidFill>
                  <a:srgbClr val="FFFFFF"/>
                </a:solidFill>
                <a:latin typeface="맑은 고딕"/>
                <a:ea typeface="맑은 고딕"/>
                <a:cs typeface="Calibri"/>
              </a:rPr>
              <a:t>검증중</a:t>
            </a:r>
          </a:p>
        </p:txBody>
      </p:sp>
      <p:sp>
        <p:nvSpPr>
          <p:cNvPr id="21" name="Text 19"/>
          <p:cNvSpPr/>
          <p:nvPr/>
        </p:nvSpPr>
        <p:spPr>
          <a:xfrm>
            <a:off x="8193024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43E"/>
                </a:solidFill>
                <a:latin typeface="맑은 고딕"/>
                <a:ea typeface="맑은 고딕"/>
                <a:cs typeface="Cambria" pitchFamily="34" charset="-120"/>
              </a:rPr>
              <a:t>Frontend</a:t>
            </a:r>
            <a:endParaRPr lang="en-US" sz="1900">
              <a:latin typeface="맑은 고딕"/>
              <a:ea typeface="맑은 고딕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93024" y="40690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역할별 화면 구성</a:t>
            </a:r>
            <a:endParaRPr lang="en-US" sz="1350">
              <a:latin typeface="맑은 고딕"/>
              <a:ea typeface="맑은 고딕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93024" y="46908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B242E"/>
                </a:solidFill>
                <a:latin typeface="맑은 고딕"/>
                <a:ea typeface="맑은 고딕"/>
                <a:cs typeface="Calibri" pitchFamily="34" charset="-120"/>
              </a:rPr>
              <a:t>•  연동 테스트 진행</a:t>
            </a:r>
            <a:endParaRPr lang="en-US" sz="1350">
              <a:latin typeface="맑은 고딕"/>
              <a:ea typeface="맑은 고딕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9B7C3"/>
                </a:solidFill>
                <a:latin typeface="맑은 고딕"/>
                <a:ea typeface="맑은 고딕"/>
                <a:cs typeface="Calibri" pitchFamily="34" charset="-120"/>
              </a:rPr>
              <a:t>AI 중고차 거래 플랫폼</a:t>
            </a:r>
            <a:endParaRPr lang="en-US" sz="9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377440"/>
            <a:ext cx="3840480" cy="3840480"/>
          </a:xfrm>
          <a:prstGeom prst="ellipse">
            <a:avLst/>
          </a:prstGeom>
          <a:solidFill>
            <a:srgbClr val="2E526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5029200"/>
            <a:ext cx="4114800" cy="0"/>
          </a:xfrm>
          <a:prstGeom prst="line">
            <a:avLst/>
          </a:prstGeom>
          <a:noFill/>
          <a:ln w="12700">
            <a:solidFill>
              <a:srgbClr val="2E52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맑은 고딕"/>
                <a:ea typeface="맑은 고딕"/>
                <a:cs typeface="Cambria" pitchFamily="34" charset="-120"/>
              </a:rPr>
              <a:t>감사합니다 · Q&amp;A</a:t>
            </a:r>
            <a:endParaRPr lang="en-US" sz="26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21</Slides>
  <Notes>21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8</cp:revision>
  <dcterms:created xsi:type="dcterms:W3CDTF">2026-07-29T03:06:49Z</dcterms:created>
  <dcterms:modified xsi:type="dcterms:W3CDTF">2026-08-04T05:53:41Z</dcterms:modified>
</cp:coreProperties>
</file>